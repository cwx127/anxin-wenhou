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14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93" d="100"/>
          <a:sy n="93" d="100"/>
        </p:scale>
        <p:origin x="79" y="65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"/>
          <p:cNvSpPr>
            <a:spLocks noGrp="1"/>
          </p:cNvSpPr>
          <p:nvPr>
            <p:ph type="hdr" sz="quarter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3" name="Date Placeholder"/>
          <p:cNvSpPr>
            <a:spLocks noGrp="1"/>
          </p:cNvSpPr>
          <p:nvPr>
            <p:ph type="dt" sz="quarter" idx="1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4" name="Slide Image Placeholder"/>
          <p:cNvSpPr>
            <a:spLocks noGrp="1" noRot="1" noChangeAspect="1"/>
          </p:cNvSpPr>
          <p:nvPr>
            <p:ph type="sldImg" idx="2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5" name="Notes Placeholder"/>
          <p:cNvSpPr>
            <a:spLocks noGrp="1"/>
          </p:cNvSpPr>
          <p:nvPr>
            <p:ph type="body" sz="quarter" idx="3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6" name="Footer Placeholder"/>
          <p:cNvSpPr>
            <a:spLocks noGrp="1"/>
          </p:cNvSpPr>
          <p:nvPr>
            <p:ph type="ftr" sz="quarter" idx="4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7" name="Slide Number Placeholder"/>
          <p:cNvSpPr>
            <a:spLocks noGrp="1"/>
          </p:cNvSpPr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/>
    </a:lvl1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用一句话定义产品，不先介绍功能大全。画面右侧是当前可交互 MVP 的老人端。</a:t>
            </a:r>
          </a:p>
          <a:p>
            <a:endParaRPr/>
          </a:p>
          <a:p>
            <a:r>
              <a:t>[Sources]</a:t>
            </a:r>
          </a:p>
          <a:p>
            <a:r>
              <a:t>- 阿里云“小有可为”官方赛事页：https://opc.aliyun.com/xiaoyoukewei?display_mode=3</a:t>
            </a:r>
          </a:p>
          <a:p>
            <a:r>
              <a:t>- 老人端实际截图：C:/Users/cwx/Desktop/产品构思/老年/yinian-zhiban-Demo-github/docs/screenshots/senior-dashboard.png</a:t>
            </a:r>
          </a:p>
          <a:p>
            <a:r>
              <a:t>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将痛点收敛到一个高频问题：家属要不要打电话。产品不与监控设备比拼采集量，而是降低家属判断负担。</a:t>
            </a:r>
          </a:p>
          <a:p>
            <a:endParaRPr/>
          </a:p>
          <a:p>
            <a:r>
              <a:t>[Sources]</a:t>
            </a:r>
          </a:p>
          <a:p>
            <a:r>
              <a:t>- 养老赛题官方问题描述：https://opc.aliyun.com/xiaoyoukewei/topic2?display_mode=3</a:t>
            </a:r>
          </a:p>
          <a:p>
            <a:r>
              <a:t>- 项目说明内容稿：C:/Users/cwx/Desktop/产品构思/老年/yinian-zhiban-Demo-github/docs/项目说明文档-内容稿.md</a:t>
            </a:r>
          </a:p>
          <a:p>
            <a:r>
              <a:t>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这个四步闭环是项目的全部主链路。重点不是“生成一段文字”，而是把原话、结论与行动串起来。</a:t>
            </a:r>
          </a:p>
          <a:p>
            <a:endParaRPr/>
          </a:p>
          <a:p>
            <a:r>
              <a:t>[Sources]</a:t>
            </a:r>
          </a:p>
          <a:p>
            <a:r>
              <a:t>- 项目说明内容稿：C:/Users/cwx/Desktop/产品构思/老年/yinian-zhiban-Demo-github/docs/项目说明文档-内容稿.md</a:t>
            </a:r>
          </a:p>
          <a:p>
            <a:r>
              <a:t>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老人端的设计准则是单任务：今天只需要完成一次回应。语音不可用时仍可以文字或大按钮降级。</a:t>
            </a:r>
          </a:p>
          <a:p>
            <a:endParaRPr/>
          </a:p>
          <a:p>
            <a:r>
              <a:t>[Sources]</a:t>
            </a:r>
          </a:p>
          <a:p>
            <a:r>
              <a:t>- 老人端实际截图：C:/Users/cwx/Desktop/产品构思/老年/yinian-zhiban-Demo-github/docs/screenshots/senior-dashboard.png</a:t>
            </a:r>
          </a:p>
          <a:p>
            <a:r>
              <a:t>- MVP 验收报告：C:/Users/cwx/Desktop/产品构思/老年/yinian-zhiban-Demo-github/docs/MVP验收报告.md</a:t>
            </a:r>
          </a:p>
          <a:p>
            <a:r>
              <a:t>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五个问题构成一张回执的固定结构。评委可以直接对照截图，看到状态、原话、证据和建议动作在同一个视图里。</a:t>
            </a:r>
          </a:p>
          <a:p>
            <a:endParaRPr/>
          </a:p>
          <a:p>
            <a:r>
              <a:t>[Sources]</a:t>
            </a:r>
          </a:p>
          <a:p>
            <a:r>
              <a:t>- 家属端实际截图：C:/Users/cwx/Desktop/产品构思/老年/yinian-zhiban-Demo-github/docs/screenshots/family-dashboard.png</a:t>
            </a:r>
          </a:p>
          <a:p>
            <a:r>
              <a:t>- 项目说明内容稿：C:/Users/cwx/Desktop/产品构思/老年/yinian-zhiban-Demo-github/docs/项目说明文档-内容稿.md</a:t>
            </a:r>
          </a:p>
          <a:p>
            <a:r>
              <a:t>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这是项目需要被记住的一个特点：每个结论都可以追溯到老人原话和命中片段。这让家属有机会复核，而不是被动接受一个机器结论。</a:t>
            </a:r>
          </a:p>
          <a:p>
            <a:endParaRPr/>
          </a:p>
          <a:p>
            <a:r>
              <a:t>[Sources]</a:t>
            </a:r>
          </a:p>
          <a:p>
            <a:r>
              <a:t>- 紧急场景实际截图：C:/Users/cwx/Desktop/产品构思/老年/yinian-zhiban-Demo-github/docs/screenshots/urgent-receipt.png</a:t>
            </a:r>
          </a:p>
          <a:p>
            <a:r>
              <a:t>- 规则引擎测试与设计：C:/Users/cwx/Desktop/产品构思/老年/yinian-zhiban-Demo-github/src/checkin.ts</a:t>
            </a:r>
          </a:p>
          <a:p>
            <a:r>
              <a:t>- MVP 验收报告：C:/Users/cwx/Desktop/产品构思/老年/yinian-zhiban-Demo-github/docs/MVP验收报告.md</a:t>
            </a:r>
          </a:p>
          <a:p>
            <a:r>
              <a:t>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三个边界场景用来证明产品不把“关心”包装成无法兑现的自动救援。未回应、用药和紧急表达均保留人工确认。</a:t>
            </a:r>
          </a:p>
          <a:p>
            <a:endParaRPr/>
          </a:p>
          <a:p>
            <a:r>
              <a:t>[Sources]</a:t>
            </a:r>
          </a:p>
          <a:p>
            <a:r>
              <a:t>- 未回应场景截图：C:/Users/cwx/Desktop/产品构思/老年/yinian-zhiban-Demo-github/docs/screenshots/no-response-receipt.png</a:t>
            </a:r>
          </a:p>
          <a:p>
            <a:r>
              <a:t>- 调药拒答场景截图：C:/Users/cwx/Desktop/产品构思/老年/yinian-zhiban-Demo-github/docs/screenshots/medication-refusal.png</a:t>
            </a:r>
          </a:p>
          <a:p>
            <a:r>
              <a:t>- 紧急场景截图：C:/Users/cwx/Desktop/产品构思/老年/yinian-zhiban-Demo-github/docs/screenshots/urgent-receipt.png</a:t>
            </a:r>
          </a:p>
          <a:p>
            <a:r>
              <a:t>- 规则引擎：C:/Users/cwx/Desktop/产品构思/老年/yinian-zhiban-Demo-github/src/checkin.ts</a:t>
            </a:r>
          </a:p>
          <a:p>
            <a:r>
              <a:t>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当前 MVP 的紧急分级、未回应表述和调药拒答由确定性规则控制。后续 AI 只在规则层之外做口语归一和事实抽取，输出仍需二次校验。</a:t>
            </a:r>
          </a:p>
          <a:p>
            <a:endParaRPr/>
          </a:p>
          <a:p>
            <a:r>
              <a:t>[Sources]</a:t>
            </a:r>
          </a:p>
          <a:p>
            <a:r>
              <a:t>- 技术实现：C:/Users/cwx/Desktop/产品构思/老年/yinian-zhiban-Demo-github/src/checkin.ts</a:t>
            </a:r>
          </a:p>
          <a:p>
            <a:r>
              <a:t>- 项目说明内容稿：C:/Users/cwx/Desktop/产品构思/老年/yinian-zhiban-Demo-github/docs/项目说明文档-内容稿.md</a:t>
            </a:r>
          </a:p>
          <a:p>
            <a:r>
              <a:t>- MVP 验收报告：C:/Users/cwx/Desktop/产品构思/老年/yinian-zhiban-Demo-github/docs/MVP验收报告.md</a:t>
            </a:r>
          </a:p>
          <a:p>
            <a:r>
              <a:t>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官方养老赛题的评分为公益价值 30、技术实现 30、用户友好性 25、创新价值 15。本页将产品主链路逐一对齐到四项评分。</a:t>
            </a:r>
          </a:p>
          <a:p>
            <a:endParaRPr/>
          </a:p>
          <a:p>
            <a:r>
              <a:t>[Sources]</a:t>
            </a:r>
          </a:p>
          <a:p>
            <a:r>
              <a:t>- 阿里云“小有可为”官方赛事页：https://opc.aliyun.com/xiaoyoukewei?display_mode=3</a:t>
            </a:r>
          </a:p>
          <a:p>
            <a:r>
              <a:t>- 养老赛题官方页：https://opc.aliyun.com/xiaoyoukewei/topic2?display_mode=3</a:t>
            </a:r>
          </a:p>
          <a:p>
            <a:r>
              <a:t>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验收数据只表示当前前端 MVP 和展示视频的可复现性，不代表真实家庭长期效果。未完成项在画面中明确列出。</a:t>
            </a:r>
          </a:p>
          <a:p>
            <a:endParaRPr/>
          </a:p>
          <a:p>
            <a:r>
              <a:t>[Sources]</a:t>
            </a:r>
          </a:p>
          <a:p>
            <a:r>
              <a:t>- MVP 验收报告：C:/Users/cwx/Desktop/产品构思/老年/yinian-zhiban-Demo-github/docs/MVP验收报告.md</a:t>
            </a:r>
          </a:p>
          <a:p>
            <a:r>
              <a:t>- 规则测试：C:/Users/cwx/Desktop/产品构思/老年/yinian-zhiban-Demo-github/src/checkin.test.ts</a:t>
            </a:r>
          </a:p>
          <a:p>
            <a:r>
              <a:t>- 展示视频：C:/Users/cwx/Desktop/产品构思/老年/yinian-zhiban-Demo-github/docs/安心问候-MVP展示视频.mp4</a:t>
            </a:r>
          </a:p>
          <a:p>
            <a:r>
              <a:t>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路线图不以“增加功能”为主，而是按证据门槛推进：可用性、真实连接、家庭授权和社区流程。</a:t>
            </a:r>
          </a:p>
          <a:p>
            <a:endParaRPr/>
          </a:p>
          <a:p>
            <a:r>
              <a:t>[Sources]</a:t>
            </a:r>
          </a:p>
          <a:p>
            <a:r>
              <a:t>- 项目说明内容稿：C:/Users/cwx/Desktop/产品构思/老年/yinian-zhiban-Demo-github/docs/项目说明文档-内容稿.md</a:t>
            </a:r>
          </a:p>
          <a:p>
            <a:r>
              <a:t>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收束时再次回到一句话与一张回执。当前最明确的下一步是真实用户测试、公网演示和家庭试点，而不是继续横向增加功能。</a:t>
            </a:r>
          </a:p>
          <a:p>
            <a:endParaRPr/>
          </a:p>
          <a:p>
            <a:r>
              <a:t>[Sources]</a:t>
            </a:r>
          </a:p>
          <a:p>
            <a:r>
              <a:t>- 项目说明内容稿：C:/Users/cwx/Desktop/产品构思/老年/yinian-zhiban-Demo-github/docs/项目说明文档-内容稿.md</a:t>
            </a:r>
          </a:p>
          <a:p>
            <a:r>
              <a:t>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Maste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6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42D9FCF8-7C46-4A0E-B247-A4DA60F94524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209550" cy="6858000"/>
          </a:xfrm>
          <a:prstGeom prst="rect">
            <a:avLst/>
          </a:prstGeom>
          <a:solidFill>
            <a:srgbClr val="174C3B"/>
          </a:solidFill>
          <a:ln w="0">
            <a:noFill/>
            <a:prstDash val="solid"/>
          </a:ln>
        </p:spPr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B86726DC-5394-4C22-9DBC-98D9798243B3}"/>
              </a:ext>
            </a:extLst>
          </p:cNvPr>
          <p:cNvSpPr>
            <a:spLocks noGrp="1"/>
          </p:cNvSpPr>
          <p:nvPr/>
        </p:nvSpPr>
        <p:spPr>
          <a:xfrm>
            <a:off x="5962650" y="0"/>
            <a:ext cx="228600" cy="6858000"/>
          </a:xfrm>
          <a:prstGeom prst="rect">
            <a:avLst/>
          </a:prstGeom>
          <a:solidFill>
            <a:srgbClr val="F5F6F2"/>
          </a:solidFill>
          <a:ln w="0">
            <a:noFill/>
            <a:prstDash val="solid"/>
          </a:ln>
        </p:spPr>
      </p:sp>
      <p:sp>
        <p:nvSpPr>
          <p:cNvPr id="4" name="矩形: 圆角 3">
            <a:extLst>
              <a:ext uri="{FF2B5EF4-FFF2-40B4-BE49-F238E27FC236}">
                <a16:creationId xmlns:a16="http://schemas.microsoft.com/office/drawing/2014/main" id="{E2A7E104-6097-4E81-A00C-ADF7107331A8}"/>
              </a:ext>
            </a:extLst>
          </p:cNvPr>
          <p:cNvSpPr>
            <a:spLocks noGrp="1"/>
          </p:cNvSpPr>
          <p:nvPr/>
        </p:nvSpPr>
        <p:spPr>
          <a:xfrm>
            <a:off x="685800" y="552450"/>
            <a:ext cx="438150" cy="438150"/>
          </a:xfrm>
          <a:prstGeom prst="roundRect">
            <a:avLst>
              <a:gd name="adj" fmla="val 8696"/>
            </a:avLst>
          </a:prstGeom>
          <a:solidFill>
            <a:srgbClr val="174C3B"/>
          </a:solidFill>
          <a:ln w="0">
            <a:noFill/>
            <a:prstDash val="solid"/>
          </a:ln>
        </p:spPr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5CDFE2BE-C119-44CE-90D4-C52524B4DEE6}"/>
              </a:ext>
            </a:extLst>
          </p:cNvPr>
          <p:cNvSpPr>
            <a:spLocks noGrp="1"/>
          </p:cNvSpPr>
          <p:nvPr/>
        </p:nvSpPr>
        <p:spPr>
          <a:xfrm>
            <a:off x="685800" y="600075"/>
            <a:ext cx="43815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>
            <a:normAutofit/>
          </a:bodyPr>
          <a:lstStyle/>
          <a:p>
            <a:pPr algn="ctr">
              <a:defRPr sz="18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安</a:t>
            </a: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9EB35FEC-E962-4630-96CB-7B4F24E70A56}"/>
              </a:ext>
            </a:extLst>
          </p:cNvPr>
          <p:cNvSpPr>
            <a:spLocks noGrp="1"/>
          </p:cNvSpPr>
          <p:nvPr/>
        </p:nvSpPr>
        <p:spPr>
          <a:xfrm>
            <a:off x="1295400" y="628650"/>
            <a:ext cx="40005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350" b="1">
                <a:solidFill>
                  <a:srgbClr val="174C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174C3B"/>
                </a:solidFill>
                <a:latin typeface="Microsoft YaHei"/>
                <a:ea typeface="Microsoft YaHei"/>
                <a:cs typeface="Microsoft YaHei"/>
              </a:rPr>
              <a:t>普惠养老 · 银发数字生活</a:t>
            </a: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ABF258E2-A2BC-4F64-8043-518B4A8FBD00}"/>
              </a:ext>
            </a:extLst>
          </p:cNvPr>
          <p:cNvSpPr>
            <a:spLocks noGrp="1"/>
          </p:cNvSpPr>
          <p:nvPr/>
        </p:nvSpPr>
        <p:spPr>
          <a:xfrm>
            <a:off x="685800" y="1428750"/>
            <a:ext cx="4381500" cy="19621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6300" b="1">
                <a:solidFill>
                  <a:srgbClr val="151A1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300" b="1">
                <a:solidFill>
                  <a:srgbClr val="151A17"/>
                </a:solidFill>
                <a:latin typeface="Microsoft YaHei"/>
                <a:ea typeface="Microsoft YaHei"/>
                <a:cs typeface="Microsoft YaHei"/>
              </a:rPr>
              <a:t>安心</a:t>
            </a:r>
          </a:p>
          <a:p>
            <a:pPr algn="l">
              <a:defRPr sz="6300" b="1">
                <a:solidFill>
                  <a:srgbClr val="151A1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300" b="1">
                <a:solidFill>
                  <a:srgbClr val="151A17"/>
                </a:solidFill>
                <a:latin typeface="Microsoft YaHei"/>
                <a:ea typeface="Microsoft YaHei"/>
                <a:cs typeface="Microsoft YaHei"/>
              </a:rPr>
              <a:t>问候</a:t>
            </a: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6A503C0D-E669-4205-AD47-A313BF02A7E3}"/>
              </a:ext>
            </a:extLst>
          </p:cNvPr>
          <p:cNvSpPr>
            <a:spLocks noGrp="1"/>
          </p:cNvSpPr>
          <p:nvPr/>
        </p:nvSpPr>
        <p:spPr>
          <a:xfrm>
            <a:off x="704850" y="3590925"/>
            <a:ext cx="1219200" cy="47625"/>
          </a:xfrm>
          <a:prstGeom prst="rect">
            <a:avLst/>
          </a:prstGeom>
          <a:solidFill>
            <a:srgbClr val="C58A2B"/>
          </a:solidFill>
          <a:ln w="0">
            <a:noFill/>
            <a:prstDash val="solid"/>
          </a:ln>
        </p:spPr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173B1E95-FFEE-4711-93DA-721D9F86F8E3}"/>
              </a:ext>
            </a:extLst>
          </p:cNvPr>
          <p:cNvSpPr>
            <a:spLocks noGrp="1"/>
          </p:cNvSpPr>
          <p:nvPr/>
        </p:nvSpPr>
        <p:spPr>
          <a:xfrm>
            <a:off x="685800" y="3876675"/>
            <a:ext cx="4572000" cy="876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2400" b="1">
                <a:solidFill>
                  <a:srgbClr val="0E332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1">
                <a:solidFill>
                  <a:srgbClr val="0E3329"/>
                </a:solidFill>
                <a:latin typeface="Microsoft YaHei"/>
                <a:ea typeface="Microsoft YaHei"/>
                <a:cs typeface="Microsoft YaHei"/>
              </a:rPr>
              <a:t>老人说一句，家属收到</a:t>
            </a:r>
          </a:p>
          <a:p>
            <a:pPr algn="l">
              <a:defRPr sz="2400" b="1">
                <a:solidFill>
                  <a:srgbClr val="0E332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1">
                <a:solidFill>
                  <a:srgbClr val="0E3329"/>
                </a:solidFill>
                <a:latin typeface="Microsoft YaHei"/>
                <a:ea typeface="Microsoft YaHei"/>
                <a:cs typeface="Microsoft YaHei"/>
              </a:rPr>
              <a:t>带原话证据的状态回执。</a:t>
            </a: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431C4D9C-81FD-4502-B42F-6469D869DC8E}"/>
              </a:ext>
            </a:extLst>
          </p:cNvPr>
          <p:cNvSpPr>
            <a:spLocks noGrp="1"/>
          </p:cNvSpPr>
          <p:nvPr/>
        </p:nvSpPr>
        <p:spPr>
          <a:xfrm>
            <a:off x="685800" y="5200650"/>
            <a:ext cx="34290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575" b="1">
                <a:solidFill>
                  <a:srgbClr val="68716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68716B"/>
                </a:solidFill>
                <a:latin typeface="Microsoft YaHei"/>
                <a:ea typeface="Microsoft YaHei"/>
                <a:cs typeface="Microsoft YaHei"/>
              </a:rPr>
              <a:t>MVP 商演项目说明</a:t>
            </a:r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671E7220-3EEE-4F8E-AC6E-C3AC0945631B}"/>
              </a:ext>
            </a:extLst>
          </p:cNvPr>
          <p:cNvSpPr>
            <a:spLocks noGrp="1"/>
          </p:cNvSpPr>
          <p:nvPr/>
        </p:nvSpPr>
        <p:spPr>
          <a:xfrm>
            <a:off x="685800" y="5905500"/>
            <a:ext cx="47625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350" b="0">
                <a:solidFill>
                  <a:srgbClr val="68716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68716B"/>
                </a:solidFill>
                <a:latin typeface="Microsoft YaHei"/>
                <a:ea typeface="Microsoft YaHei"/>
                <a:cs typeface="Microsoft YaHei"/>
              </a:rPr>
              <a:t>不监控  ·  不诊断  ·  不虚构自动救援</a:t>
            </a: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DAF60F73-6F5A-460A-91B4-810AF7EB4EDB}"/>
              </a:ext>
            </a:extLst>
          </p:cNvPr>
          <p:cNvSpPr>
            <a:spLocks noGrp="1"/>
          </p:cNvSpPr>
          <p:nvPr/>
        </p:nvSpPr>
        <p:spPr>
          <a:xfrm>
            <a:off x="5448300" y="5905500"/>
            <a:ext cx="4000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r">
              <a:defRPr sz="1350" b="1">
                <a:solidFill>
                  <a:srgbClr val="174C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174C3B"/>
                </a:solidFill>
                <a:latin typeface="Microsoft YaHei"/>
                <a:ea typeface="Microsoft YaHei"/>
                <a:cs typeface="Microsoft YaHei"/>
              </a:rPr>
              <a:t>01</a:t>
            </a:r>
          </a:p>
        </p:txBody>
      </p:sp>
    </p:spTree>
    <p:extLst>
      <p:ext uri="{BB962C8B-B14F-4D97-AF65-F5344CB8AC3E}">
        <p14:creationId xmlns:p14="http://schemas.microsoft.com/office/powerpoint/2010/main" val="144794672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E332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矩形 24">
            <a:extLst>
              <a:ext uri="{FF2B5EF4-FFF2-40B4-BE49-F238E27FC236}">
                <a16:creationId xmlns:a16="http://schemas.microsoft.com/office/drawing/2014/main" id="{C27F9CA1-EC82-4B0D-B781-AF4D10E573F0}"/>
              </a:ext>
            </a:extLst>
          </p:cNvPr>
          <p:cNvSpPr>
            <a:spLocks noGrp="1"/>
          </p:cNvSpPr>
          <p:nvPr/>
        </p:nvSpPr>
        <p:spPr>
          <a:xfrm>
            <a:off x="609600" y="342900"/>
            <a:ext cx="42862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200" b="1">
                <a:solidFill>
                  <a:srgbClr val="D5E0D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D5E0D9"/>
                </a:solidFill>
                <a:latin typeface="Microsoft YaHei"/>
                <a:ea typeface="Microsoft YaHei"/>
                <a:cs typeface="Microsoft YaHei"/>
              </a:rPr>
              <a:t>安心问候  /  真实问题</a:t>
            </a: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CCA8CE2D-8AD0-4B68-9EC3-E3BA2D0A165F}"/>
              </a:ext>
            </a:extLst>
          </p:cNvPr>
          <p:cNvSpPr>
            <a:spLocks noGrp="1"/>
          </p:cNvSpPr>
          <p:nvPr/>
        </p:nvSpPr>
        <p:spPr>
          <a:xfrm>
            <a:off x="11334750" y="342900"/>
            <a:ext cx="2857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r">
              <a:defRPr sz="1200" b="1">
                <a:solidFill>
                  <a:srgbClr val="D5E0D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D5E0D9"/>
                </a:solidFill>
                <a:latin typeface="Microsoft YaHei"/>
                <a:ea typeface="Microsoft YaHei"/>
                <a:cs typeface="Microsoft YaHei"/>
              </a:rPr>
              <a:t>02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F7CB51D3-C927-4101-96E7-319DE45763E7}"/>
              </a:ext>
            </a:extLst>
          </p:cNvPr>
          <p:cNvSpPr>
            <a:spLocks noGrp="1"/>
          </p:cNvSpPr>
          <p:nvPr/>
        </p:nvSpPr>
        <p:spPr>
          <a:xfrm>
            <a:off x="609600" y="742950"/>
            <a:ext cx="6572250" cy="12001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39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900" b="1" dirty="0" err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家属缺的不是更多监控</a:t>
            </a:r>
            <a:r>
              <a:rPr sz="3900" b="1" dirty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，</a:t>
            </a:r>
          </a:p>
          <a:p>
            <a:pPr algn="l">
              <a:defRPr sz="39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900" b="1" dirty="0" err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而是一句能行动的确认</a:t>
            </a:r>
            <a:endParaRPr sz="3900" b="1" dirty="0">
              <a:solidFill>
                <a:srgbClr val="FFFFFF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A1F2CA9B-FA3D-4987-BD68-80CA35D1B5FB}"/>
              </a:ext>
            </a:extLst>
          </p:cNvPr>
          <p:cNvSpPr>
            <a:spLocks noGrp="1"/>
          </p:cNvSpPr>
          <p:nvPr/>
        </p:nvSpPr>
        <p:spPr>
          <a:xfrm>
            <a:off x="153403" y="2628900"/>
            <a:ext cx="857250" cy="952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 fontScale="92160" lnSpcReduction="20000"/>
          </a:bodyPr>
          <a:lstStyle/>
          <a:p>
            <a:pPr algn="l">
              <a:defRPr sz="8100" b="0">
                <a:solidFill>
                  <a:srgbClr val="C58A2B"/>
                </a:solidFill>
                <a:latin typeface="SimSun"/>
                <a:ea typeface="SimSun"/>
                <a:cs typeface="SimSun"/>
              </a:defRPr>
            </a:pPr>
            <a:r>
              <a:rPr sz="8100" b="0" dirty="0">
                <a:solidFill>
                  <a:srgbClr val="C58A2B"/>
                </a:solidFill>
                <a:latin typeface="SimSun"/>
                <a:ea typeface="SimSun"/>
                <a:cs typeface="SimSun"/>
              </a:rPr>
              <a:t>“</a:t>
            </a: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ACD2F0B0-1921-4576-9130-CCDDC2D54EC7}"/>
              </a:ext>
            </a:extLst>
          </p:cNvPr>
          <p:cNvSpPr>
            <a:spLocks noGrp="1"/>
          </p:cNvSpPr>
          <p:nvPr/>
        </p:nvSpPr>
        <p:spPr>
          <a:xfrm>
            <a:off x="933450" y="2571750"/>
            <a:ext cx="4333875" cy="1333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3225" b="1">
                <a:solidFill>
                  <a:srgbClr val="FFFFFF"/>
                </a:solidFill>
                <a:latin typeface="SimSun"/>
                <a:ea typeface="SimSun"/>
                <a:cs typeface="SimSun"/>
              </a:defRPr>
            </a:pPr>
            <a:r>
              <a:rPr sz="3225" b="1">
                <a:solidFill>
                  <a:srgbClr val="FFFFFF"/>
                </a:solidFill>
                <a:latin typeface="SimSun"/>
                <a:ea typeface="SimSun"/>
                <a:cs typeface="SimSun"/>
              </a:rPr>
              <a:t>今天怎么样，</a:t>
            </a:r>
          </a:p>
          <a:p>
            <a:pPr algn="l">
              <a:defRPr sz="3225" b="1">
                <a:solidFill>
                  <a:srgbClr val="FFFFFF"/>
                </a:solidFill>
                <a:latin typeface="SimSun"/>
                <a:ea typeface="SimSun"/>
                <a:cs typeface="SimSun"/>
              </a:defRPr>
            </a:pPr>
            <a:r>
              <a:rPr sz="3225" b="1">
                <a:solidFill>
                  <a:srgbClr val="FFFFFF"/>
                </a:solidFill>
                <a:latin typeface="SimSun"/>
                <a:ea typeface="SimSun"/>
                <a:cs typeface="SimSun"/>
              </a:rPr>
              <a:t>要不要打电话？</a:t>
            </a: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88442678-E23B-4F14-8EB9-E2C2AC6B77C9}"/>
              </a:ext>
            </a:extLst>
          </p:cNvPr>
          <p:cNvSpPr>
            <a:spLocks noGrp="1"/>
          </p:cNvSpPr>
          <p:nvPr/>
        </p:nvSpPr>
        <p:spPr>
          <a:xfrm>
            <a:off x="952500" y="4171950"/>
            <a:ext cx="4286250" cy="533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650" b="0">
                <a:solidFill>
                  <a:srgbClr val="BFD0C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BFD0C7"/>
                </a:solidFill>
                <a:latin typeface="Microsoft YaHei"/>
                <a:ea typeface="Microsoft YaHei"/>
                <a:cs typeface="Microsoft YaHei"/>
              </a:rPr>
              <a:t>这是异地家属每天都需要做的小决策。</a:t>
            </a: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623FE37D-07FB-46BA-B274-16037FDE760B}"/>
              </a:ext>
            </a:extLst>
          </p:cNvPr>
          <p:cNvSpPr>
            <a:spLocks noGrp="1"/>
          </p:cNvSpPr>
          <p:nvPr/>
        </p:nvSpPr>
        <p:spPr>
          <a:xfrm>
            <a:off x="5791200" y="1857375"/>
            <a:ext cx="9525" cy="3857625"/>
          </a:xfrm>
          <a:prstGeom prst="rect">
            <a:avLst/>
          </a:prstGeom>
          <a:solidFill>
            <a:srgbClr val="3B6457"/>
          </a:solidFill>
          <a:ln w="0">
            <a:noFill/>
            <a:prstDash val="solid"/>
          </a:ln>
        </p:spPr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AA128287-090C-4904-9876-6EEBFFA1C745}"/>
              </a:ext>
            </a:extLst>
          </p:cNvPr>
          <p:cNvSpPr>
            <a:spLocks noGrp="1"/>
          </p:cNvSpPr>
          <p:nvPr/>
        </p:nvSpPr>
        <p:spPr>
          <a:xfrm>
            <a:off x="6305550" y="1943100"/>
            <a:ext cx="45720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650" b="1">
                <a:solidFill>
                  <a:srgbClr val="C58A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C58A2B"/>
                </a:solidFill>
                <a:latin typeface="Microsoft YaHei"/>
                <a:ea typeface="Microsoft YaHei"/>
                <a:cs typeface="Microsoft YaHei"/>
              </a:rPr>
              <a:t>01</a:t>
            </a: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E126BA35-649E-4D7B-8042-C1967217EC7F}"/>
              </a:ext>
            </a:extLst>
          </p:cNvPr>
          <p:cNvSpPr>
            <a:spLocks noGrp="1"/>
          </p:cNvSpPr>
          <p:nvPr/>
        </p:nvSpPr>
        <p:spPr>
          <a:xfrm>
            <a:off x="6858000" y="2076450"/>
            <a:ext cx="514350" cy="19050"/>
          </a:xfrm>
          <a:prstGeom prst="rect">
            <a:avLst/>
          </a:prstGeom>
          <a:solidFill>
            <a:srgbClr val="C58A2B"/>
          </a:solidFill>
          <a:ln w="0">
            <a:noFill/>
            <a:prstDash val="solid"/>
          </a:ln>
        </p:spPr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E38C3521-3A86-4E6B-9CB9-F8FF9A0CB57D}"/>
              </a:ext>
            </a:extLst>
          </p:cNvPr>
          <p:cNvSpPr>
            <a:spLocks noGrp="1"/>
          </p:cNvSpPr>
          <p:nvPr/>
        </p:nvSpPr>
        <p:spPr>
          <a:xfrm>
            <a:off x="7562850" y="1924050"/>
            <a:ext cx="32766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9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反复询问会变成打扰</a:t>
            </a:r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F8085C93-1D61-4533-A557-3A0534671428}"/>
              </a:ext>
            </a:extLst>
          </p:cNvPr>
          <p:cNvSpPr>
            <a:spLocks noGrp="1"/>
          </p:cNvSpPr>
          <p:nvPr/>
        </p:nvSpPr>
        <p:spPr>
          <a:xfrm>
            <a:off x="7562850" y="2314575"/>
            <a:ext cx="337185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650" b="0">
                <a:solidFill>
                  <a:srgbClr val="C4D3C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C4D3CB"/>
                </a:solidFill>
                <a:latin typeface="Microsoft YaHei"/>
                <a:ea typeface="Microsoft YaHei"/>
                <a:cs typeface="Microsoft YaHei"/>
              </a:rPr>
              <a:t>每天多次打电话，容易让关心变成查岗。</a:t>
            </a: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D8E642EA-2563-480E-B403-16283AA09305}"/>
              </a:ext>
            </a:extLst>
          </p:cNvPr>
          <p:cNvSpPr>
            <a:spLocks noGrp="1"/>
          </p:cNvSpPr>
          <p:nvPr/>
        </p:nvSpPr>
        <p:spPr>
          <a:xfrm>
            <a:off x="6305550" y="3048000"/>
            <a:ext cx="4667250" cy="9525"/>
          </a:xfrm>
          <a:prstGeom prst="rect">
            <a:avLst/>
          </a:prstGeom>
          <a:solidFill>
            <a:srgbClr val="3B6457"/>
          </a:solidFill>
          <a:ln w="0">
            <a:noFill/>
            <a:prstDash val="solid"/>
          </a:ln>
        </p:spPr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BD97192D-EC17-474E-AB77-DDBF1BBE72E0}"/>
              </a:ext>
            </a:extLst>
          </p:cNvPr>
          <p:cNvSpPr>
            <a:spLocks noGrp="1"/>
          </p:cNvSpPr>
          <p:nvPr/>
        </p:nvSpPr>
        <p:spPr>
          <a:xfrm>
            <a:off x="6305550" y="3276600"/>
            <a:ext cx="45720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650" b="1">
                <a:solidFill>
                  <a:srgbClr val="C58A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C58A2B"/>
                </a:solidFill>
                <a:latin typeface="Microsoft YaHei"/>
                <a:ea typeface="Microsoft YaHei"/>
                <a:cs typeface="Microsoft YaHei"/>
              </a:rPr>
              <a:t>02</a:t>
            </a:r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DE72B0A3-CDA2-4BDD-9520-F1AE3F424E9A}"/>
              </a:ext>
            </a:extLst>
          </p:cNvPr>
          <p:cNvSpPr>
            <a:spLocks noGrp="1"/>
          </p:cNvSpPr>
          <p:nvPr/>
        </p:nvSpPr>
        <p:spPr>
          <a:xfrm>
            <a:off x="6858000" y="3409950"/>
            <a:ext cx="514350" cy="19050"/>
          </a:xfrm>
          <a:prstGeom prst="rect">
            <a:avLst/>
          </a:prstGeom>
          <a:solidFill>
            <a:srgbClr val="C58A2B"/>
          </a:solidFill>
          <a:ln w="0">
            <a:noFill/>
            <a:prstDash val="solid"/>
          </a:ln>
        </p:spPr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5FE52B2F-36B6-450C-AB08-7D9BAC86249D}"/>
              </a:ext>
            </a:extLst>
          </p:cNvPr>
          <p:cNvSpPr>
            <a:spLocks noGrp="1"/>
          </p:cNvSpPr>
          <p:nvPr/>
        </p:nvSpPr>
        <p:spPr>
          <a:xfrm>
            <a:off x="7562850" y="3257550"/>
            <a:ext cx="32766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9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普通聊天没有行动结论</a:t>
            </a:r>
          </a:p>
        </p:txBody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F79A00D0-66F9-4D39-9248-9E478F30395B}"/>
              </a:ext>
            </a:extLst>
          </p:cNvPr>
          <p:cNvSpPr>
            <a:spLocks noGrp="1"/>
          </p:cNvSpPr>
          <p:nvPr/>
        </p:nvSpPr>
        <p:spPr>
          <a:xfrm>
            <a:off x="7562850" y="3648075"/>
            <a:ext cx="337185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650" b="0">
                <a:solidFill>
                  <a:srgbClr val="C4D3C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C4D3CB"/>
                </a:solidFill>
                <a:latin typeface="Microsoft YaHei"/>
                <a:ea typeface="Microsoft YaHei"/>
                <a:cs typeface="Microsoft YaHei"/>
              </a:rPr>
              <a:t>家属听到一句话，仍要自己猜“要不要回拨”。</a:t>
            </a:r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ACFDE38B-0DB4-415A-A502-AEF1F8425594}"/>
              </a:ext>
            </a:extLst>
          </p:cNvPr>
          <p:cNvSpPr>
            <a:spLocks noGrp="1"/>
          </p:cNvSpPr>
          <p:nvPr/>
        </p:nvSpPr>
        <p:spPr>
          <a:xfrm>
            <a:off x="6305550" y="4381500"/>
            <a:ext cx="4667250" cy="9525"/>
          </a:xfrm>
          <a:prstGeom prst="rect">
            <a:avLst/>
          </a:prstGeom>
          <a:solidFill>
            <a:srgbClr val="3B6457"/>
          </a:solidFill>
          <a:ln w="0">
            <a:noFill/>
            <a:prstDash val="solid"/>
          </a:ln>
        </p:spPr>
      </p:sp>
      <p:sp>
        <p:nvSpPr>
          <p:cNvPr id="18" name="矩形 17">
            <a:extLst>
              <a:ext uri="{FF2B5EF4-FFF2-40B4-BE49-F238E27FC236}">
                <a16:creationId xmlns:a16="http://schemas.microsoft.com/office/drawing/2014/main" id="{877A00F8-0068-4F0A-A2A9-BFA95738D281}"/>
              </a:ext>
            </a:extLst>
          </p:cNvPr>
          <p:cNvSpPr>
            <a:spLocks noGrp="1"/>
          </p:cNvSpPr>
          <p:nvPr/>
        </p:nvSpPr>
        <p:spPr>
          <a:xfrm>
            <a:off x="6305550" y="4610100"/>
            <a:ext cx="45720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650" b="1">
                <a:solidFill>
                  <a:srgbClr val="C58A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C58A2B"/>
                </a:solidFill>
                <a:latin typeface="Microsoft YaHei"/>
                <a:ea typeface="Microsoft YaHei"/>
                <a:cs typeface="Microsoft YaHei"/>
              </a:rPr>
              <a:t>03</a:t>
            </a:r>
          </a:p>
        </p:txBody>
      </p:sp>
      <p:sp>
        <p:nvSpPr>
          <p:cNvPr id="19" name="矩形 18">
            <a:extLst>
              <a:ext uri="{FF2B5EF4-FFF2-40B4-BE49-F238E27FC236}">
                <a16:creationId xmlns:a16="http://schemas.microsoft.com/office/drawing/2014/main" id="{992F6ED2-91A3-448B-9FA2-61B4BDFE753C}"/>
              </a:ext>
            </a:extLst>
          </p:cNvPr>
          <p:cNvSpPr>
            <a:spLocks noGrp="1"/>
          </p:cNvSpPr>
          <p:nvPr/>
        </p:nvSpPr>
        <p:spPr>
          <a:xfrm>
            <a:off x="6858000" y="4743450"/>
            <a:ext cx="514350" cy="19050"/>
          </a:xfrm>
          <a:prstGeom prst="rect">
            <a:avLst/>
          </a:prstGeom>
          <a:solidFill>
            <a:srgbClr val="C58A2B"/>
          </a:solidFill>
          <a:ln w="0">
            <a:noFill/>
            <a:prstDash val="solid"/>
          </a:ln>
        </p:spPr>
      </p:sp>
      <p:sp>
        <p:nvSpPr>
          <p:cNvPr id="20" name="矩形 19">
            <a:extLst>
              <a:ext uri="{FF2B5EF4-FFF2-40B4-BE49-F238E27FC236}">
                <a16:creationId xmlns:a16="http://schemas.microsoft.com/office/drawing/2014/main" id="{B1B70168-BF59-4025-82CC-30B763279F8E}"/>
              </a:ext>
            </a:extLst>
          </p:cNvPr>
          <p:cNvSpPr>
            <a:spLocks noGrp="1"/>
          </p:cNvSpPr>
          <p:nvPr/>
        </p:nvSpPr>
        <p:spPr>
          <a:xfrm>
            <a:off x="7562850" y="4591050"/>
            <a:ext cx="32766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9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没回应不等于遇险</a:t>
            </a:r>
          </a:p>
        </p:txBody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A75ACC04-CD27-4D55-BC5C-FF3A0D701954}"/>
              </a:ext>
            </a:extLst>
          </p:cNvPr>
          <p:cNvSpPr>
            <a:spLocks noGrp="1"/>
          </p:cNvSpPr>
          <p:nvPr/>
        </p:nvSpPr>
        <p:spPr>
          <a:xfrm>
            <a:off x="7562850" y="4981575"/>
            <a:ext cx="337185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650" b="0">
                <a:solidFill>
                  <a:srgbClr val="C4D3C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C4D3CB"/>
                </a:solidFill>
                <a:latin typeface="Microsoft YaHei"/>
                <a:ea typeface="Microsoft YaHei"/>
                <a:cs typeface="Microsoft YaHei"/>
              </a:rPr>
              <a:t>睡觉、出门或静音，都可能没有回应</a:t>
            </a:r>
          </a:p>
          <a:p>
            <a:pPr algn="l">
              <a:defRPr sz="1650" b="0">
                <a:solidFill>
                  <a:srgbClr val="C4D3C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C4D3CB"/>
                </a:solidFill>
                <a:latin typeface="Microsoft YaHei"/>
                <a:ea typeface="Microsoft YaHei"/>
                <a:cs typeface="Microsoft YaHei"/>
              </a:rPr>
              <a:t>不能直接下结论。</a:t>
            </a:r>
          </a:p>
        </p:txBody>
      </p:sp>
      <p:sp>
        <p:nvSpPr>
          <p:cNvPr id="22" name="矩形 21">
            <a:extLst>
              <a:ext uri="{FF2B5EF4-FFF2-40B4-BE49-F238E27FC236}">
                <a16:creationId xmlns:a16="http://schemas.microsoft.com/office/drawing/2014/main" id="{A958593B-05D0-40AE-9B52-C909F96B9F77}"/>
              </a:ext>
            </a:extLst>
          </p:cNvPr>
          <p:cNvSpPr>
            <a:spLocks noGrp="1"/>
          </p:cNvSpPr>
          <p:nvPr/>
        </p:nvSpPr>
        <p:spPr>
          <a:xfrm>
            <a:off x="609600" y="6486525"/>
            <a:ext cx="10972800" cy="9525"/>
          </a:xfrm>
          <a:prstGeom prst="rect">
            <a:avLst/>
          </a:prstGeom>
          <a:solidFill>
            <a:srgbClr val="356052"/>
          </a:solidFill>
          <a:ln w="0">
            <a:noFill/>
            <a:prstDash val="solid"/>
          </a:ln>
        </p:spPr>
      </p:sp>
      <p:sp>
        <p:nvSpPr>
          <p:cNvPr id="23" name="矩形 22">
            <a:extLst>
              <a:ext uri="{FF2B5EF4-FFF2-40B4-BE49-F238E27FC236}">
                <a16:creationId xmlns:a16="http://schemas.microsoft.com/office/drawing/2014/main" id="{24A8B9A1-FF63-4138-BA80-9B79189178F0}"/>
              </a:ext>
            </a:extLst>
          </p:cNvPr>
          <p:cNvSpPr>
            <a:spLocks noGrp="1"/>
          </p:cNvSpPr>
          <p:nvPr/>
        </p:nvSpPr>
        <p:spPr>
          <a:xfrm>
            <a:off x="609600" y="6572250"/>
            <a:ext cx="542925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975" b="0">
                <a:solidFill>
                  <a:srgbClr val="ADC0B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ADC0B6"/>
                </a:solidFill>
                <a:latin typeface="Microsoft YaHei"/>
                <a:ea typeface="Microsoft YaHei"/>
                <a:cs typeface="Microsoft YaHei"/>
              </a:rPr>
              <a:t>不监控  ·  不诊断  ·  只同步必要信息</a:t>
            </a:r>
          </a:p>
        </p:txBody>
      </p:sp>
      <p:sp>
        <p:nvSpPr>
          <p:cNvPr id="24" name="矩形 23">
            <a:extLst>
              <a:ext uri="{FF2B5EF4-FFF2-40B4-BE49-F238E27FC236}">
                <a16:creationId xmlns:a16="http://schemas.microsoft.com/office/drawing/2014/main" id="{61D413F2-E3AF-4821-9BA9-30CCCF214C27}"/>
              </a:ext>
            </a:extLst>
          </p:cNvPr>
          <p:cNvSpPr>
            <a:spLocks noGrp="1"/>
          </p:cNvSpPr>
          <p:nvPr/>
        </p:nvSpPr>
        <p:spPr>
          <a:xfrm>
            <a:off x="10668000" y="6572250"/>
            <a:ext cx="9144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r">
              <a:defRPr sz="975" b="0">
                <a:solidFill>
                  <a:srgbClr val="ADC0B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ADC0B6"/>
                </a:solidFill>
                <a:latin typeface="Microsoft YaHei"/>
                <a:ea typeface="Microsoft YaHei"/>
                <a:cs typeface="Microsoft YaHei"/>
              </a:rPr>
              <a:t>02 / 12</a:t>
            </a:r>
          </a:p>
        </p:txBody>
      </p:sp>
    </p:spTree>
    <p:extLst>
      <p:ext uri="{BB962C8B-B14F-4D97-AF65-F5344CB8AC3E}">
        <p14:creationId xmlns:p14="http://schemas.microsoft.com/office/powerpoint/2010/main" val="54917495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6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矩形 29">
            <a:extLst>
              <a:ext uri="{FF2B5EF4-FFF2-40B4-BE49-F238E27FC236}">
                <a16:creationId xmlns:a16="http://schemas.microsoft.com/office/drawing/2014/main" id="{AF1FFDBA-54E3-4FFE-ABE7-6E85286E841B}"/>
              </a:ext>
            </a:extLst>
          </p:cNvPr>
          <p:cNvSpPr>
            <a:spLocks noGrp="1"/>
          </p:cNvSpPr>
          <p:nvPr/>
        </p:nvSpPr>
        <p:spPr>
          <a:xfrm>
            <a:off x="609600" y="342900"/>
            <a:ext cx="42862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200" b="1">
                <a:solidFill>
                  <a:srgbClr val="68716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68716B"/>
                </a:solidFill>
                <a:latin typeface="Microsoft YaHei"/>
                <a:ea typeface="Microsoft YaHei"/>
                <a:cs typeface="Microsoft YaHei"/>
              </a:rPr>
              <a:t>安心问候  /  产品承诺</a:t>
            </a: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DAE946AB-77DA-4821-AA0B-B006CC51F175}"/>
              </a:ext>
            </a:extLst>
          </p:cNvPr>
          <p:cNvSpPr>
            <a:spLocks noGrp="1"/>
          </p:cNvSpPr>
          <p:nvPr/>
        </p:nvSpPr>
        <p:spPr>
          <a:xfrm>
            <a:off x="11334750" y="342900"/>
            <a:ext cx="2857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r">
              <a:defRPr sz="1200" b="1">
                <a:solidFill>
                  <a:srgbClr val="68716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68716B"/>
                </a:solidFill>
                <a:latin typeface="Microsoft YaHei"/>
                <a:ea typeface="Microsoft YaHei"/>
                <a:cs typeface="Microsoft YaHei"/>
              </a:rPr>
              <a:t>03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C61F5D45-4589-4FE7-B85C-114BFF7D4D98}"/>
              </a:ext>
            </a:extLst>
          </p:cNvPr>
          <p:cNvSpPr>
            <a:spLocks noGrp="1"/>
          </p:cNvSpPr>
          <p:nvPr/>
        </p:nvSpPr>
        <p:spPr>
          <a:xfrm>
            <a:off x="609600" y="742950"/>
            <a:ext cx="10668000" cy="723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3750" b="1">
                <a:solidFill>
                  <a:srgbClr val="151A1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750" b="1">
                <a:solidFill>
                  <a:srgbClr val="151A17"/>
                </a:solidFill>
                <a:latin typeface="Microsoft YaHei"/>
                <a:ea typeface="Microsoft YaHei"/>
                <a:cs typeface="Microsoft YaHei"/>
              </a:rPr>
              <a:t>只做好一件事：把回应变成安心回执</a:t>
            </a: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8042C54F-E63C-405D-B787-4574385716BC}"/>
              </a:ext>
            </a:extLst>
          </p:cNvPr>
          <p:cNvSpPr>
            <a:spLocks noGrp="1"/>
          </p:cNvSpPr>
          <p:nvPr/>
        </p:nvSpPr>
        <p:spPr>
          <a:xfrm>
            <a:off x="857250" y="2457450"/>
            <a:ext cx="9953625" cy="28575"/>
          </a:xfrm>
          <a:prstGeom prst="rect">
            <a:avLst/>
          </a:prstGeom>
          <a:solidFill>
            <a:srgbClr val="CDD3CE"/>
          </a:solidFill>
          <a:ln w="0">
            <a:noFill/>
            <a:prstDash val="solid"/>
          </a:ln>
        </p:spPr>
      </p:sp>
      <p:sp>
        <p:nvSpPr>
          <p:cNvPr id="5" name="椭圆 4">
            <a:extLst>
              <a:ext uri="{FF2B5EF4-FFF2-40B4-BE49-F238E27FC236}">
                <a16:creationId xmlns:a16="http://schemas.microsoft.com/office/drawing/2014/main" id="{952738C2-216C-4505-9BF7-6AD6EC9C9890}"/>
              </a:ext>
            </a:extLst>
          </p:cNvPr>
          <p:cNvSpPr>
            <a:spLocks noGrp="1"/>
          </p:cNvSpPr>
          <p:nvPr/>
        </p:nvSpPr>
        <p:spPr>
          <a:xfrm>
            <a:off x="685800" y="2200275"/>
            <a:ext cx="514350" cy="514350"/>
          </a:xfrm>
          <a:prstGeom prst="ellipse">
            <a:avLst/>
          </a:prstGeom>
          <a:solidFill>
            <a:srgbClr val="F5F6F2"/>
          </a:solidFill>
          <a:ln w="19050">
            <a:solidFill>
              <a:srgbClr val="CDD3CE"/>
            </a:solidFill>
            <a:prstDash val="solid"/>
          </a:ln>
        </p:spPr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9A17201A-F50A-4EE0-9CBA-8A108ECE4199}"/>
              </a:ext>
            </a:extLst>
          </p:cNvPr>
          <p:cNvSpPr>
            <a:spLocks noGrp="1"/>
          </p:cNvSpPr>
          <p:nvPr/>
        </p:nvSpPr>
        <p:spPr>
          <a:xfrm>
            <a:off x="685800" y="2295525"/>
            <a:ext cx="5143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ctr">
              <a:defRPr sz="1650" b="1">
                <a:solidFill>
                  <a:srgbClr val="174C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174C3B"/>
                </a:solidFill>
                <a:latin typeface="Microsoft YaHei"/>
                <a:ea typeface="Microsoft YaHei"/>
                <a:cs typeface="Microsoft YaHei"/>
              </a:rPr>
              <a:t>1</a:t>
            </a: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163EE80B-8ED7-4099-964D-5083BE33156A}"/>
              </a:ext>
            </a:extLst>
          </p:cNvPr>
          <p:cNvSpPr>
            <a:spLocks noGrp="1"/>
          </p:cNvSpPr>
          <p:nvPr/>
        </p:nvSpPr>
        <p:spPr>
          <a:xfrm>
            <a:off x="685800" y="2990850"/>
            <a:ext cx="232410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875" b="1">
                <a:solidFill>
                  <a:srgbClr val="151A1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151A17"/>
                </a:solidFill>
                <a:latin typeface="Microsoft YaHei"/>
                <a:ea typeface="Microsoft YaHei"/>
                <a:cs typeface="Microsoft YaHei"/>
              </a:rPr>
              <a:t>说一句 / 点一下</a:t>
            </a: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A96EF900-86D3-41A3-9B1C-D0740EBB2BC7}"/>
              </a:ext>
            </a:extLst>
          </p:cNvPr>
          <p:cNvSpPr>
            <a:spLocks noGrp="1"/>
          </p:cNvSpPr>
          <p:nvPr/>
        </p:nvSpPr>
        <p:spPr>
          <a:xfrm>
            <a:off x="685800" y="3448050"/>
            <a:ext cx="2362200" cy="647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650" b="0">
                <a:solidFill>
                  <a:srgbClr val="68716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68716B"/>
                </a:solidFill>
                <a:latin typeface="Microsoft YaHei"/>
                <a:ea typeface="Microsoft YaHei"/>
                <a:cs typeface="Microsoft YaHei"/>
              </a:rPr>
              <a:t>老人用最熟悉的方式回应</a:t>
            </a:r>
          </a:p>
        </p:txBody>
      </p:sp>
      <p:sp>
        <p:nvSpPr>
          <p:cNvPr id="9" name="椭圆 8">
            <a:extLst>
              <a:ext uri="{FF2B5EF4-FFF2-40B4-BE49-F238E27FC236}">
                <a16:creationId xmlns:a16="http://schemas.microsoft.com/office/drawing/2014/main" id="{DA272A8D-3EDC-4F29-ACDD-D85CF1C7D45E}"/>
              </a:ext>
            </a:extLst>
          </p:cNvPr>
          <p:cNvSpPr>
            <a:spLocks noGrp="1"/>
          </p:cNvSpPr>
          <p:nvPr/>
        </p:nvSpPr>
        <p:spPr>
          <a:xfrm>
            <a:off x="3429000" y="2200275"/>
            <a:ext cx="514350" cy="514350"/>
          </a:xfrm>
          <a:prstGeom prst="ellipse">
            <a:avLst/>
          </a:prstGeom>
          <a:solidFill>
            <a:srgbClr val="F5F6F2"/>
          </a:solidFill>
          <a:ln w="19050">
            <a:solidFill>
              <a:srgbClr val="CDD3CE"/>
            </a:solidFill>
            <a:prstDash val="solid"/>
          </a:ln>
        </p:spPr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E45BED2C-62B0-4F99-A3C3-1D12E9C0482C}"/>
              </a:ext>
            </a:extLst>
          </p:cNvPr>
          <p:cNvSpPr>
            <a:spLocks noGrp="1"/>
          </p:cNvSpPr>
          <p:nvPr/>
        </p:nvSpPr>
        <p:spPr>
          <a:xfrm>
            <a:off x="3429000" y="2295525"/>
            <a:ext cx="5143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ctr">
              <a:defRPr sz="1650" b="1">
                <a:solidFill>
                  <a:srgbClr val="174C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174C3B"/>
                </a:solidFill>
                <a:latin typeface="Microsoft YaHei"/>
                <a:ea typeface="Microsoft YaHei"/>
                <a:cs typeface="Microsoft YaHei"/>
              </a:rPr>
              <a:t>2</a:t>
            </a:r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51DFD82E-C8CB-48A8-A774-1E33333D7C71}"/>
              </a:ext>
            </a:extLst>
          </p:cNvPr>
          <p:cNvSpPr>
            <a:spLocks noGrp="1"/>
          </p:cNvSpPr>
          <p:nvPr/>
        </p:nvSpPr>
        <p:spPr>
          <a:xfrm>
            <a:off x="3429000" y="2990850"/>
            <a:ext cx="232410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875" b="1">
                <a:solidFill>
                  <a:srgbClr val="151A1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151A17"/>
                </a:solidFill>
                <a:latin typeface="Microsoft YaHei"/>
                <a:ea typeface="Microsoft YaHei"/>
                <a:cs typeface="Microsoft YaHei"/>
              </a:rPr>
              <a:t>识别事实</a:t>
            </a: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B57FC95D-E8B7-46E0-9E4E-B99422291017}"/>
              </a:ext>
            </a:extLst>
          </p:cNvPr>
          <p:cNvSpPr>
            <a:spLocks noGrp="1"/>
          </p:cNvSpPr>
          <p:nvPr/>
        </p:nvSpPr>
        <p:spPr>
          <a:xfrm>
            <a:off x="3429000" y="3448050"/>
            <a:ext cx="2362200" cy="647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650" b="0">
                <a:solidFill>
                  <a:srgbClr val="68716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68716B"/>
                </a:solidFill>
                <a:latin typeface="Microsoft YaHei"/>
                <a:ea typeface="Microsoft YaHei"/>
                <a:cs typeface="Microsoft YaHei"/>
              </a:rPr>
              <a:t>只抽取可观察的表达</a:t>
            </a:r>
          </a:p>
        </p:txBody>
      </p:sp>
      <p:sp>
        <p:nvSpPr>
          <p:cNvPr id="13" name="椭圆 12">
            <a:extLst>
              <a:ext uri="{FF2B5EF4-FFF2-40B4-BE49-F238E27FC236}">
                <a16:creationId xmlns:a16="http://schemas.microsoft.com/office/drawing/2014/main" id="{6FDF294F-262F-4F5F-9979-D8216FE26653}"/>
              </a:ext>
            </a:extLst>
          </p:cNvPr>
          <p:cNvSpPr>
            <a:spLocks noGrp="1"/>
          </p:cNvSpPr>
          <p:nvPr/>
        </p:nvSpPr>
        <p:spPr>
          <a:xfrm>
            <a:off x="6172200" y="2200275"/>
            <a:ext cx="514350" cy="514350"/>
          </a:xfrm>
          <a:prstGeom prst="ellipse">
            <a:avLst/>
          </a:prstGeom>
          <a:solidFill>
            <a:srgbClr val="174C3B"/>
          </a:solidFill>
          <a:ln w="19050">
            <a:solidFill>
              <a:srgbClr val="174C3B"/>
            </a:solidFill>
            <a:prstDash val="solid"/>
          </a:ln>
        </p:spPr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317CBC7F-7C22-4B7A-84E4-E12ADAABCAD7}"/>
              </a:ext>
            </a:extLst>
          </p:cNvPr>
          <p:cNvSpPr>
            <a:spLocks noGrp="1"/>
          </p:cNvSpPr>
          <p:nvPr/>
        </p:nvSpPr>
        <p:spPr>
          <a:xfrm>
            <a:off x="6172200" y="2295525"/>
            <a:ext cx="5143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ctr">
              <a:defRPr sz="16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3</a:t>
            </a:r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3CC0C000-D08A-439B-B45E-39753A52BA64}"/>
              </a:ext>
            </a:extLst>
          </p:cNvPr>
          <p:cNvSpPr>
            <a:spLocks noGrp="1"/>
          </p:cNvSpPr>
          <p:nvPr/>
        </p:nvSpPr>
        <p:spPr>
          <a:xfrm>
            <a:off x="6172200" y="2990850"/>
            <a:ext cx="232410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875" b="1">
                <a:solidFill>
                  <a:srgbClr val="151A1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151A17"/>
                </a:solidFill>
                <a:latin typeface="Microsoft YaHei"/>
                <a:ea typeface="Microsoft YaHei"/>
                <a:cs typeface="Microsoft YaHei"/>
              </a:rPr>
              <a:t>生成回执</a:t>
            </a:r>
          </a:p>
        </p:txBody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484B9392-4DE3-468F-BAA8-050CE30D44C9}"/>
              </a:ext>
            </a:extLst>
          </p:cNvPr>
          <p:cNvSpPr>
            <a:spLocks noGrp="1"/>
          </p:cNvSpPr>
          <p:nvPr/>
        </p:nvSpPr>
        <p:spPr>
          <a:xfrm>
            <a:off x="6172200" y="3448050"/>
            <a:ext cx="2362200" cy="647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650" b="0">
                <a:solidFill>
                  <a:srgbClr val="68716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68716B"/>
                </a:solidFill>
                <a:latin typeface="Microsoft YaHei"/>
                <a:ea typeface="Microsoft YaHei"/>
                <a:cs typeface="Microsoft YaHei"/>
              </a:rPr>
              <a:t>状态、原话、原因、建议</a:t>
            </a:r>
          </a:p>
        </p:txBody>
      </p:sp>
      <p:sp>
        <p:nvSpPr>
          <p:cNvPr id="17" name="椭圆 16">
            <a:extLst>
              <a:ext uri="{FF2B5EF4-FFF2-40B4-BE49-F238E27FC236}">
                <a16:creationId xmlns:a16="http://schemas.microsoft.com/office/drawing/2014/main" id="{B78AB5C4-8760-48FB-8D0D-E4D3C34941D8}"/>
              </a:ext>
            </a:extLst>
          </p:cNvPr>
          <p:cNvSpPr>
            <a:spLocks noGrp="1"/>
          </p:cNvSpPr>
          <p:nvPr/>
        </p:nvSpPr>
        <p:spPr>
          <a:xfrm>
            <a:off x="8915400" y="2200275"/>
            <a:ext cx="514350" cy="514350"/>
          </a:xfrm>
          <a:prstGeom prst="ellipse">
            <a:avLst/>
          </a:prstGeom>
          <a:solidFill>
            <a:srgbClr val="F5F6F2"/>
          </a:solidFill>
          <a:ln w="19050">
            <a:solidFill>
              <a:srgbClr val="CDD3CE"/>
            </a:solidFill>
            <a:prstDash val="solid"/>
          </a:ln>
        </p:spPr>
      </p:sp>
      <p:sp>
        <p:nvSpPr>
          <p:cNvPr id="18" name="矩形 17">
            <a:extLst>
              <a:ext uri="{FF2B5EF4-FFF2-40B4-BE49-F238E27FC236}">
                <a16:creationId xmlns:a16="http://schemas.microsoft.com/office/drawing/2014/main" id="{4FF0C435-56FE-4FF4-9186-FFF0AA645BCA}"/>
              </a:ext>
            </a:extLst>
          </p:cNvPr>
          <p:cNvSpPr>
            <a:spLocks noGrp="1"/>
          </p:cNvSpPr>
          <p:nvPr/>
        </p:nvSpPr>
        <p:spPr>
          <a:xfrm>
            <a:off x="8915400" y="2295525"/>
            <a:ext cx="5143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ctr">
              <a:defRPr sz="1650" b="1">
                <a:solidFill>
                  <a:srgbClr val="174C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174C3B"/>
                </a:solidFill>
                <a:latin typeface="Microsoft YaHei"/>
                <a:ea typeface="Microsoft YaHei"/>
                <a:cs typeface="Microsoft YaHei"/>
              </a:rPr>
              <a:t>4</a:t>
            </a:r>
          </a:p>
        </p:txBody>
      </p:sp>
      <p:sp>
        <p:nvSpPr>
          <p:cNvPr id="19" name="矩形 18">
            <a:extLst>
              <a:ext uri="{FF2B5EF4-FFF2-40B4-BE49-F238E27FC236}">
                <a16:creationId xmlns:a16="http://schemas.microsoft.com/office/drawing/2014/main" id="{A98ECC49-3F5D-4EE6-B91E-000CEB78C3CD}"/>
              </a:ext>
            </a:extLst>
          </p:cNvPr>
          <p:cNvSpPr>
            <a:spLocks noGrp="1"/>
          </p:cNvSpPr>
          <p:nvPr/>
        </p:nvSpPr>
        <p:spPr>
          <a:xfrm>
            <a:off x="8915400" y="2990850"/>
            <a:ext cx="232410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875" b="1">
                <a:solidFill>
                  <a:srgbClr val="151A1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151A17"/>
                </a:solidFill>
                <a:latin typeface="Microsoft YaHei"/>
                <a:ea typeface="Microsoft YaHei"/>
                <a:cs typeface="Microsoft YaHei"/>
              </a:rPr>
              <a:t>人工确认</a:t>
            </a:r>
          </a:p>
        </p:txBody>
      </p:sp>
      <p:sp>
        <p:nvSpPr>
          <p:cNvPr id="20" name="矩形 19">
            <a:extLst>
              <a:ext uri="{FF2B5EF4-FFF2-40B4-BE49-F238E27FC236}">
                <a16:creationId xmlns:a16="http://schemas.microsoft.com/office/drawing/2014/main" id="{1B58FAB5-9E19-4CC8-A04D-9B502954AF1F}"/>
              </a:ext>
            </a:extLst>
          </p:cNvPr>
          <p:cNvSpPr>
            <a:spLocks noGrp="1"/>
          </p:cNvSpPr>
          <p:nvPr/>
        </p:nvSpPr>
        <p:spPr>
          <a:xfrm>
            <a:off x="8915400" y="3448050"/>
            <a:ext cx="2362200" cy="647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650" b="0">
                <a:solidFill>
                  <a:srgbClr val="68716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68716B"/>
                </a:solidFill>
                <a:latin typeface="Microsoft YaHei"/>
                <a:ea typeface="Microsoft YaHei"/>
                <a:cs typeface="Microsoft YaHei"/>
              </a:rPr>
              <a:t>家属决定是否回拨或求助</a:t>
            </a:r>
          </a:p>
        </p:txBody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4C512D8C-1664-4705-A9E2-06B129E27339}"/>
              </a:ext>
            </a:extLst>
          </p:cNvPr>
          <p:cNvSpPr>
            <a:spLocks noGrp="1"/>
          </p:cNvSpPr>
          <p:nvPr/>
        </p:nvSpPr>
        <p:spPr>
          <a:xfrm>
            <a:off x="609600" y="4629150"/>
            <a:ext cx="10972800" cy="1352550"/>
          </a:xfrm>
          <a:prstGeom prst="rect">
            <a:avLst/>
          </a:prstGeom>
          <a:solidFill>
            <a:srgbClr val="0E3329"/>
          </a:solidFill>
          <a:ln w="0">
            <a:noFill/>
            <a:prstDash val="solid"/>
          </a:ln>
        </p:spPr>
      </p:sp>
      <p:sp>
        <p:nvSpPr>
          <p:cNvPr id="22" name="矩形 21">
            <a:extLst>
              <a:ext uri="{FF2B5EF4-FFF2-40B4-BE49-F238E27FC236}">
                <a16:creationId xmlns:a16="http://schemas.microsoft.com/office/drawing/2014/main" id="{B040685F-D6DD-4267-A42C-6D0B21801D41}"/>
              </a:ext>
            </a:extLst>
          </p:cNvPr>
          <p:cNvSpPr>
            <a:spLocks noGrp="1"/>
          </p:cNvSpPr>
          <p:nvPr/>
        </p:nvSpPr>
        <p:spPr>
          <a:xfrm>
            <a:off x="914400" y="4953000"/>
            <a:ext cx="3905250" cy="514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2400" b="1">
                <a:solidFill>
                  <a:srgbClr val="FFFFFF"/>
                </a:solidFill>
                <a:latin typeface="SimSun"/>
                <a:ea typeface="SimSun"/>
                <a:cs typeface="SimSun"/>
              </a:defRPr>
            </a:pPr>
            <a:r>
              <a:rPr sz="2400" b="1">
                <a:solidFill>
                  <a:srgbClr val="FFFFFF"/>
                </a:solidFill>
                <a:latin typeface="SimSun"/>
                <a:ea typeface="SimSun"/>
                <a:cs typeface="SimSun"/>
              </a:rPr>
              <a:t>“我今天有点不舒服”</a:t>
            </a:r>
          </a:p>
        </p:txBody>
      </p:sp>
      <p:sp>
        <p:nvSpPr>
          <p:cNvPr id="23" name="矩形 22">
            <a:extLst>
              <a:ext uri="{FF2B5EF4-FFF2-40B4-BE49-F238E27FC236}">
                <a16:creationId xmlns:a16="http://schemas.microsoft.com/office/drawing/2014/main" id="{22297F81-4A0B-4C65-BB3E-9CE0C6FAC672}"/>
              </a:ext>
            </a:extLst>
          </p:cNvPr>
          <p:cNvSpPr>
            <a:spLocks noGrp="1"/>
          </p:cNvSpPr>
          <p:nvPr/>
        </p:nvSpPr>
        <p:spPr>
          <a:xfrm>
            <a:off x="4991100" y="4991100"/>
            <a:ext cx="723900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ctr">
              <a:defRPr sz="2850" b="1">
                <a:solidFill>
                  <a:srgbClr val="C58A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850" b="1">
                <a:solidFill>
                  <a:srgbClr val="C58A2B"/>
                </a:solidFill>
                <a:latin typeface="Microsoft YaHei"/>
                <a:ea typeface="Microsoft YaHei"/>
                <a:cs typeface="Microsoft YaHei"/>
              </a:rPr>
              <a:t>→</a:t>
            </a:r>
          </a:p>
        </p:txBody>
      </p:sp>
      <p:sp>
        <p:nvSpPr>
          <p:cNvPr id="24" name="矩形 23">
            <a:extLst>
              <a:ext uri="{FF2B5EF4-FFF2-40B4-BE49-F238E27FC236}">
                <a16:creationId xmlns:a16="http://schemas.microsoft.com/office/drawing/2014/main" id="{6B69826A-6CBD-4630-AB2D-E9EA76834A08}"/>
              </a:ext>
            </a:extLst>
          </p:cNvPr>
          <p:cNvSpPr>
            <a:spLocks noGrp="1"/>
          </p:cNvSpPr>
          <p:nvPr/>
        </p:nvSpPr>
        <p:spPr>
          <a:xfrm>
            <a:off x="5905500" y="4857750"/>
            <a:ext cx="295275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23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今天需要关注</a:t>
            </a:r>
          </a:p>
        </p:txBody>
      </p:sp>
      <p:sp>
        <p:nvSpPr>
          <p:cNvPr id="25" name="矩形 24">
            <a:extLst>
              <a:ext uri="{FF2B5EF4-FFF2-40B4-BE49-F238E27FC236}">
                <a16:creationId xmlns:a16="http://schemas.microsoft.com/office/drawing/2014/main" id="{94361AE0-180F-4EEF-A38D-AB07BC887AAE}"/>
              </a:ext>
            </a:extLst>
          </p:cNvPr>
          <p:cNvSpPr>
            <a:spLocks noGrp="1"/>
          </p:cNvSpPr>
          <p:nvPr/>
        </p:nvSpPr>
        <p:spPr>
          <a:xfrm>
            <a:off x="5905500" y="5334000"/>
            <a:ext cx="409575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650" b="0">
                <a:solidFill>
                  <a:srgbClr val="C4D3C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C4D3CB"/>
                </a:solidFill>
                <a:latin typeface="Microsoft YaHei"/>
                <a:ea typeface="Microsoft YaHei"/>
                <a:cs typeface="Microsoft YaHei"/>
              </a:rPr>
              <a:t>建议家属尽快电话确认</a:t>
            </a:r>
          </a:p>
        </p:txBody>
      </p:sp>
      <p:sp>
        <p:nvSpPr>
          <p:cNvPr id="26" name="矩形 25">
            <a:extLst>
              <a:ext uri="{FF2B5EF4-FFF2-40B4-BE49-F238E27FC236}">
                <a16:creationId xmlns:a16="http://schemas.microsoft.com/office/drawing/2014/main" id="{CD16A35A-10F5-4E57-9B6E-039BACBBF0D4}"/>
              </a:ext>
            </a:extLst>
          </p:cNvPr>
          <p:cNvSpPr>
            <a:spLocks noGrp="1"/>
          </p:cNvSpPr>
          <p:nvPr/>
        </p:nvSpPr>
        <p:spPr>
          <a:xfrm>
            <a:off x="10287000" y="5057775"/>
            <a:ext cx="9715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r">
              <a:defRPr sz="1200" b="1">
                <a:solidFill>
                  <a:srgbClr val="F1E3C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F1E3C4"/>
                </a:solidFill>
                <a:latin typeface="Microsoft YaHei"/>
                <a:ea typeface="Microsoft YaHei"/>
                <a:cs typeface="Microsoft YaHei"/>
              </a:rPr>
              <a:t>原话保留</a:t>
            </a:r>
          </a:p>
        </p:txBody>
      </p:sp>
      <p:sp>
        <p:nvSpPr>
          <p:cNvPr id="27" name="矩形 26">
            <a:extLst>
              <a:ext uri="{FF2B5EF4-FFF2-40B4-BE49-F238E27FC236}">
                <a16:creationId xmlns:a16="http://schemas.microsoft.com/office/drawing/2014/main" id="{AA50CA4B-3D59-45C0-B860-C4DB22FF446B}"/>
              </a:ext>
            </a:extLst>
          </p:cNvPr>
          <p:cNvSpPr>
            <a:spLocks noGrp="1"/>
          </p:cNvSpPr>
          <p:nvPr/>
        </p:nvSpPr>
        <p:spPr>
          <a:xfrm>
            <a:off x="609600" y="6486525"/>
            <a:ext cx="10972800" cy="9525"/>
          </a:xfrm>
          <a:prstGeom prst="rect">
            <a:avLst/>
          </a:prstGeom>
          <a:solidFill>
            <a:srgbClr val="CDD3CE"/>
          </a:solidFill>
          <a:ln w="0">
            <a:noFill/>
            <a:prstDash val="solid"/>
          </a:ln>
        </p:spPr>
      </p:sp>
      <p:sp>
        <p:nvSpPr>
          <p:cNvPr id="28" name="矩形 27">
            <a:extLst>
              <a:ext uri="{FF2B5EF4-FFF2-40B4-BE49-F238E27FC236}">
                <a16:creationId xmlns:a16="http://schemas.microsoft.com/office/drawing/2014/main" id="{98F677F5-8A9D-43AE-A3CD-6FED004505AD}"/>
              </a:ext>
            </a:extLst>
          </p:cNvPr>
          <p:cNvSpPr>
            <a:spLocks noGrp="1"/>
          </p:cNvSpPr>
          <p:nvPr/>
        </p:nvSpPr>
        <p:spPr>
          <a:xfrm>
            <a:off x="609600" y="6572250"/>
            <a:ext cx="542925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975" b="0">
                <a:solidFill>
                  <a:srgbClr val="68716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68716B"/>
                </a:solidFill>
                <a:latin typeface="Microsoft YaHei"/>
                <a:ea typeface="Microsoft YaHei"/>
                <a:cs typeface="Microsoft YaHei"/>
              </a:rPr>
              <a:t>不监控  ·  不诊断  ·  只同步必要信息</a:t>
            </a:r>
          </a:p>
        </p:txBody>
      </p:sp>
      <p:sp>
        <p:nvSpPr>
          <p:cNvPr id="29" name="矩形 28">
            <a:extLst>
              <a:ext uri="{FF2B5EF4-FFF2-40B4-BE49-F238E27FC236}">
                <a16:creationId xmlns:a16="http://schemas.microsoft.com/office/drawing/2014/main" id="{50C7B263-DAD1-4EE0-B14F-35872AB733DF}"/>
              </a:ext>
            </a:extLst>
          </p:cNvPr>
          <p:cNvSpPr>
            <a:spLocks noGrp="1"/>
          </p:cNvSpPr>
          <p:nvPr/>
        </p:nvSpPr>
        <p:spPr>
          <a:xfrm>
            <a:off x="10668000" y="6572250"/>
            <a:ext cx="9144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r">
              <a:defRPr sz="975" b="0">
                <a:solidFill>
                  <a:srgbClr val="68716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68716B"/>
                </a:solidFill>
                <a:latin typeface="Microsoft YaHei"/>
                <a:ea typeface="Microsoft YaHei"/>
                <a:cs typeface="Microsoft YaHei"/>
              </a:rPr>
              <a:t>03 / 12</a:t>
            </a:r>
          </a:p>
        </p:txBody>
      </p:sp>
    </p:spTree>
    <p:extLst>
      <p:ext uri="{BB962C8B-B14F-4D97-AF65-F5344CB8AC3E}">
        <p14:creationId xmlns:p14="http://schemas.microsoft.com/office/powerpoint/2010/main" val="188736974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6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矩形 15">
            <a:extLst>
              <a:ext uri="{FF2B5EF4-FFF2-40B4-BE49-F238E27FC236}">
                <a16:creationId xmlns:a16="http://schemas.microsoft.com/office/drawing/2014/main" id="{7AE39776-FA76-4E83-9CFB-9F9695787AAE}"/>
              </a:ext>
            </a:extLst>
          </p:cNvPr>
          <p:cNvSpPr>
            <a:spLocks noGrp="1"/>
          </p:cNvSpPr>
          <p:nvPr/>
        </p:nvSpPr>
        <p:spPr>
          <a:xfrm>
            <a:off x="609600" y="342900"/>
            <a:ext cx="42862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200" b="1">
                <a:solidFill>
                  <a:srgbClr val="68716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68716B"/>
                </a:solidFill>
                <a:latin typeface="Microsoft YaHei"/>
                <a:ea typeface="Microsoft YaHei"/>
                <a:cs typeface="Microsoft YaHei"/>
              </a:rPr>
              <a:t>安心问候  /  老人端体验</a:t>
            </a: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97916E2D-6752-4702-AE58-B0CF688A507E}"/>
              </a:ext>
            </a:extLst>
          </p:cNvPr>
          <p:cNvSpPr>
            <a:spLocks noGrp="1"/>
          </p:cNvSpPr>
          <p:nvPr/>
        </p:nvSpPr>
        <p:spPr>
          <a:xfrm>
            <a:off x="11334750" y="342900"/>
            <a:ext cx="2857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r">
              <a:defRPr sz="1200" b="1">
                <a:solidFill>
                  <a:srgbClr val="68716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68716B"/>
                </a:solidFill>
                <a:latin typeface="Microsoft YaHei"/>
                <a:ea typeface="Microsoft YaHei"/>
                <a:cs typeface="Microsoft YaHei"/>
              </a:rPr>
              <a:t>04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0B5EA0F6-3870-4380-B857-FD7766D37C3E}"/>
              </a:ext>
            </a:extLst>
          </p:cNvPr>
          <p:cNvSpPr>
            <a:spLocks noGrp="1"/>
          </p:cNvSpPr>
          <p:nvPr/>
        </p:nvSpPr>
        <p:spPr>
          <a:xfrm>
            <a:off x="609600" y="742950"/>
            <a:ext cx="9810750" cy="723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3750" b="1">
                <a:solidFill>
                  <a:srgbClr val="151A1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750" b="1">
                <a:solidFill>
                  <a:srgbClr val="151A17"/>
                </a:solidFill>
                <a:latin typeface="Microsoft YaHei"/>
                <a:ea typeface="Microsoft YaHei"/>
                <a:cs typeface="Microsoft YaHei"/>
              </a:rPr>
              <a:t>对老人，今日只剩一个动作</a:t>
            </a: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3DE8F154-1CAF-46BD-A71C-4F068D94D82E}"/>
              </a:ext>
            </a:extLst>
          </p:cNvPr>
          <p:cNvSpPr>
            <a:spLocks noGrp="1"/>
          </p:cNvSpPr>
          <p:nvPr/>
        </p:nvSpPr>
        <p:spPr>
          <a:xfrm>
            <a:off x="609600" y="1733550"/>
            <a:ext cx="2095500" cy="1000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 fontScale="93085"/>
          </a:bodyPr>
          <a:lstStyle/>
          <a:p>
            <a:pPr algn="l">
              <a:defRPr sz="7050" b="1">
                <a:solidFill>
                  <a:srgbClr val="DCEAE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050" b="1">
                <a:solidFill>
                  <a:srgbClr val="DCEAE2"/>
                </a:solidFill>
                <a:latin typeface="Microsoft YaHei"/>
                <a:ea typeface="Microsoft YaHei"/>
                <a:cs typeface="Microsoft YaHei"/>
              </a:rPr>
              <a:t>01</a:t>
            </a: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72D710B1-B27D-4D27-BF23-206E997E84C4}"/>
              </a:ext>
            </a:extLst>
          </p:cNvPr>
          <p:cNvSpPr>
            <a:spLocks noGrp="1"/>
          </p:cNvSpPr>
          <p:nvPr/>
        </p:nvSpPr>
        <p:spPr>
          <a:xfrm>
            <a:off x="628650" y="2724150"/>
            <a:ext cx="3733800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2325" b="1">
                <a:solidFill>
                  <a:srgbClr val="0E332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0E3329"/>
                </a:solidFill>
                <a:latin typeface="Microsoft YaHei"/>
                <a:ea typeface="Microsoft YaHei"/>
                <a:cs typeface="Microsoft YaHei"/>
              </a:rPr>
              <a:t>说一句，或点一下</a:t>
            </a: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C82E1F3B-3EBF-4298-8E95-C56288FEA957}"/>
              </a:ext>
            </a:extLst>
          </p:cNvPr>
          <p:cNvSpPr>
            <a:spLocks noGrp="1"/>
          </p:cNvSpPr>
          <p:nvPr/>
        </p:nvSpPr>
        <p:spPr>
          <a:xfrm>
            <a:off x="628650" y="3419475"/>
            <a:ext cx="3143250" cy="19050"/>
          </a:xfrm>
          <a:prstGeom prst="rect">
            <a:avLst/>
          </a:prstGeom>
          <a:solidFill>
            <a:srgbClr val="174C3B"/>
          </a:solidFill>
          <a:ln w="0">
            <a:noFill/>
            <a:prstDash val="solid"/>
          </a:ln>
        </p:spPr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E060C3BB-6076-4C15-B7C1-AA757707D36E}"/>
              </a:ext>
            </a:extLst>
          </p:cNvPr>
          <p:cNvSpPr>
            <a:spLocks noGrp="1"/>
          </p:cNvSpPr>
          <p:nvPr/>
        </p:nvSpPr>
        <p:spPr>
          <a:xfrm>
            <a:off x="628650" y="3676650"/>
            <a:ext cx="369570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800" b="1">
                <a:solidFill>
                  <a:srgbClr val="151A1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151A17"/>
                </a:solidFill>
                <a:latin typeface="Microsoft YaHei"/>
                <a:ea typeface="Microsoft YaHei"/>
                <a:cs typeface="Microsoft YaHei"/>
              </a:rPr>
              <a:t>大字号、单任务首页</a:t>
            </a: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2D56E36A-BDE9-46FB-9249-F75DA9AFDE47}"/>
              </a:ext>
            </a:extLst>
          </p:cNvPr>
          <p:cNvSpPr>
            <a:spLocks noGrp="1"/>
          </p:cNvSpPr>
          <p:nvPr/>
        </p:nvSpPr>
        <p:spPr>
          <a:xfrm>
            <a:off x="628650" y="4086225"/>
            <a:ext cx="371475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575" b="0">
                <a:solidFill>
                  <a:srgbClr val="68716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68716B"/>
                </a:solidFill>
                <a:latin typeface="Microsoft YaHei"/>
                <a:ea typeface="Microsoft YaHei"/>
                <a:cs typeface="Microsoft YaHei"/>
              </a:rPr>
              <a:t>不要求老人学会菜单、表格和复杂输入。</a:t>
            </a: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477849B8-FEC3-43F1-8C13-4EE4426F89A4}"/>
              </a:ext>
            </a:extLst>
          </p:cNvPr>
          <p:cNvSpPr>
            <a:spLocks noGrp="1"/>
          </p:cNvSpPr>
          <p:nvPr/>
        </p:nvSpPr>
        <p:spPr>
          <a:xfrm>
            <a:off x="628650" y="4838700"/>
            <a:ext cx="369570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800" b="1">
                <a:solidFill>
                  <a:srgbClr val="151A1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151A17"/>
                </a:solidFill>
                <a:latin typeface="Microsoft YaHei"/>
                <a:ea typeface="Microsoft YaHei"/>
                <a:cs typeface="Microsoft YaHei"/>
              </a:rPr>
              <a:t>三个固定快捷选项</a:t>
            </a: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3E5A25B9-F4E4-4E33-9D57-352168AB3B90}"/>
              </a:ext>
            </a:extLst>
          </p:cNvPr>
          <p:cNvSpPr>
            <a:spLocks noGrp="1"/>
          </p:cNvSpPr>
          <p:nvPr/>
        </p:nvSpPr>
        <p:spPr>
          <a:xfrm>
            <a:off x="628650" y="5248275"/>
            <a:ext cx="400050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650" b="0">
                <a:solidFill>
                  <a:srgbClr val="68716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68716B"/>
                </a:solidFill>
                <a:latin typeface="Microsoft YaHei"/>
                <a:ea typeface="Microsoft YaHei"/>
                <a:cs typeface="Microsoft YaHei"/>
              </a:rPr>
              <a:t>挺好的  /  有点不舒服  /  想找家人</a:t>
            </a:r>
          </a:p>
        </p:txBody>
      </p:sp>
      <p:sp>
        <p:nvSpPr>
          <p:cNvPr id="11" name="矩形: 圆角 10">
            <a:extLst>
              <a:ext uri="{FF2B5EF4-FFF2-40B4-BE49-F238E27FC236}">
                <a16:creationId xmlns:a16="http://schemas.microsoft.com/office/drawing/2014/main" id="{BFBA412C-0679-4160-85CD-510CE501CC50}"/>
              </a:ext>
            </a:extLst>
          </p:cNvPr>
          <p:cNvSpPr>
            <a:spLocks noGrp="1"/>
          </p:cNvSpPr>
          <p:nvPr/>
        </p:nvSpPr>
        <p:spPr>
          <a:xfrm>
            <a:off x="4762500" y="1485900"/>
            <a:ext cx="6819900" cy="4686300"/>
          </a:xfrm>
          <a:prstGeom prst="roundRect">
            <a:avLst>
              <a:gd name="adj" fmla="val 813"/>
            </a:avLst>
          </a:prstGeom>
          <a:solidFill>
            <a:srgbClr val="FFFFFF"/>
          </a:solidFill>
          <a:ln w="9525">
            <a:solidFill>
              <a:srgbClr val="CDD3CE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</p:sp>
      <p:pic>
        <p:nvPicPr>
          <p:cNvPr id="27" name="图片 26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5523684" y="1638300"/>
            <a:ext cx="5297531" cy="4381500"/>
          </a:xfrm>
          <a:prstGeom prst="rect">
            <a:avLst/>
          </a:prstGeom>
        </p:spPr>
      </p:pic>
      <p:sp>
        <p:nvSpPr>
          <p:cNvPr id="13" name="矩形 12">
            <a:extLst>
              <a:ext uri="{FF2B5EF4-FFF2-40B4-BE49-F238E27FC236}">
                <a16:creationId xmlns:a16="http://schemas.microsoft.com/office/drawing/2014/main" id="{AD4DE569-B3CC-439B-BE16-0DF0E3638CEB}"/>
              </a:ext>
            </a:extLst>
          </p:cNvPr>
          <p:cNvSpPr>
            <a:spLocks noGrp="1"/>
          </p:cNvSpPr>
          <p:nvPr/>
        </p:nvSpPr>
        <p:spPr>
          <a:xfrm>
            <a:off x="609600" y="6486525"/>
            <a:ext cx="10972800" cy="9525"/>
          </a:xfrm>
          <a:prstGeom prst="rect">
            <a:avLst/>
          </a:prstGeom>
          <a:solidFill>
            <a:srgbClr val="CDD3CE"/>
          </a:solidFill>
          <a:ln w="0">
            <a:noFill/>
            <a:prstDash val="solid"/>
          </a:ln>
        </p:spPr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65A3C783-9D7E-4426-978B-C0E504DB74EF}"/>
              </a:ext>
            </a:extLst>
          </p:cNvPr>
          <p:cNvSpPr>
            <a:spLocks noGrp="1"/>
          </p:cNvSpPr>
          <p:nvPr/>
        </p:nvSpPr>
        <p:spPr>
          <a:xfrm>
            <a:off x="609600" y="6572250"/>
            <a:ext cx="542925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975" b="0">
                <a:solidFill>
                  <a:srgbClr val="68716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68716B"/>
                </a:solidFill>
                <a:latin typeface="Microsoft YaHei"/>
                <a:ea typeface="Microsoft YaHei"/>
                <a:cs typeface="Microsoft YaHei"/>
              </a:rPr>
              <a:t>不监控  ·  不诊断  ·  只同步必要信息</a:t>
            </a:r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11F58E86-A512-4EEE-BDFA-422C82A51148}"/>
              </a:ext>
            </a:extLst>
          </p:cNvPr>
          <p:cNvSpPr>
            <a:spLocks noGrp="1"/>
          </p:cNvSpPr>
          <p:nvPr/>
        </p:nvSpPr>
        <p:spPr>
          <a:xfrm>
            <a:off x="10668000" y="6572250"/>
            <a:ext cx="9144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r">
              <a:defRPr sz="975" b="0">
                <a:solidFill>
                  <a:srgbClr val="68716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68716B"/>
                </a:solidFill>
                <a:latin typeface="Microsoft YaHei"/>
                <a:ea typeface="Microsoft YaHei"/>
                <a:cs typeface="Microsoft YaHei"/>
              </a:rPr>
              <a:t>04 / 12</a:t>
            </a:r>
          </a:p>
        </p:txBody>
      </p:sp>
    </p:spTree>
    <p:extLst>
      <p:ext uri="{BB962C8B-B14F-4D97-AF65-F5344CB8AC3E}">
        <p14:creationId xmlns:p14="http://schemas.microsoft.com/office/powerpoint/2010/main" val="25921580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51A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矩形 27">
            <a:extLst>
              <a:ext uri="{FF2B5EF4-FFF2-40B4-BE49-F238E27FC236}">
                <a16:creationId xmlns:a16="http://schemas.microsoft.com/office/drawing/2014/main" id="{CDCDEC43-5B9F-4493-9D35-540E79DFFBE2}"/>
              </a:ext>
            </a:extLst>
          </p:cNvPr>
          <p:cNvSpPr>
            <a:spLocks noGrp="1"/>
          </p:cNvSpPr>
          <p:nvPr/>
        </p:nvSpPr>
        <p:spPr>
          <a:xfrm>
            <a:off x="609600" y="342900"/>
            <a:ext cx="42862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200" b="1">
                <a:solidFill>
                  <a:srgbClr val="D5E0D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D5E0D9"/>
                </a:solidFill>
                <a:latin typeface="Microsoft YaHei"/>
                <a:ea typeface="Microsoft YaHei"/>
                <a:cs typeface="Microsoft YaHei"/>
              </a:rPr>
              <a:t>安心问候  /  家属端回执</a:t>
            </a: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2F768185-00A6-49F3-9F73-ABAC7004804D}"/>
              </a:ext>
            </a:extLst>
          </p:cNvPr>
          <p:cNvSpPr>
            <a:spLocks noGrp="1"/>
          </p:cNvSpPr>
          <p:nvPr/>
        </p:nvSpPr>
        <p:spPr>
          <a:xfrm>
            <a:off x="11334750" y="342900"/>
            <a:ext cx="2857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r">
              <a:defRPr sz="1200" b="1">
                <a:solidFill>
                  <a:srgbClr val="D5E0D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D5E0D9"/>
                </a:solidFill>
                <a:latin typeface="Microsoft YaHei"/>
                <a:ea typeface="Microsoft YaHei"/>
                <a:cs typeface="Microsoft YaHei"/>
              </a:rPr>
              <a:t>05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96B151E6-BBFD-4CAA-9CD1-FB4596CD31C4}"/>
              </a:ext>
            </a:extLst>
          </p:cNvPr>
          <p:cNvSpPr>
            <a:spLocks noGrp="1"/>
          </p:cNvSpPr>
          <p:nvPr/>
        </p:nvSpPr>
        <p:spPr>
          <a:xfrm>
            <a:off x="609600" y="742950"/>
            <a:ext cx="9525000" cy="723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37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7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对家属，一屏回答五个问题</a:t>
            </a:r>
          </a:p>
        </p:txBody>
      </p:sp>
      <p:sp>
        <p:nvSpPr>
          <p:cNvPr id="4" name="矩形: 圆角 3">
            <a:extLst>
              <a:ext uri="{FF2B5EF4-FFF2-40B4-BE49-F238E27FC236}">
                <a16:creationId xmlns:a16="http://schemas.microsoft.com/office/drawing/2014/main" id="{FAD91738-096C-43A4-8CDB-F7B029A21471}"/>
              </a:ext>
            </a:extLst>
          </p:cNvPr>
          <p:cNvSpPr>
            <a:spLocks noGrp="1"/>
          </p:cNvSpPr>
          <p:nvPr/>
        </p:nvSpPr>
        <p:spPr>
          <a:xfrm>
            <a:off x="514350" y="1466850"/>
            <a:ext cx="7239000" cy="4762500"/>
          </a:xfrm>
          <a:prstGeom prst="roundRect">
            <a:avLst>
              <a:gd name="adj" fmla="val 800"/>
            </a:avLst>
          </a:prstGeom>
          <a:solidFill>
            <a:srgbClr val="FFFFFF"/>
          </a:solidFill>
          <a:ln w="9525">
            <a:solidFill>
              <a:srgbClr val="39413D"/>
            </a:solidFill>
            <a:prstDash val="solid"/>
          </a:ln>
        </p:spPr>
      </p:sp>
      <p:pic>
        <p:nvPicPr>
          <p:cNvPr id="32" name="图片 31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896874" y="1600200"/>
            <a:ext cx="6473952" cy="4495800"/>
          </a:xfrm>
          <a:prstGeom prst="rect">
            <a:avLst/>
          </a:prstGeom>
        </p:spPr>
      </p:pic>
      <p:sp>
        <p:nvSpPr>
          <p:cNvPr id="6" name="矩形 5">
            <a:extLst>
              <a:ext uri="{FF2B5EF4-FFF2-40B4-BE49-F238E27FC236}">
                <a16:creationId xmlns:a16="http://schemas.microsoft.com/office/drawing/2014/main" id="{1DC13F86-770A-4F43-A147-947DE2114F2B}"/>
              </a:ext>
            </a:extLst>
          </p:cNvPr>
          <p:cNvSpPr>
            <a:spLocks noGrp="1"/>
          </p:cNvSpPr>
          <p:nvPr/>
        </p:nvSpPr>
        <p:spPr>
          <a:xfrm>
            <a:off x="8172450" y="1581150"/>
            <a:ext cx="32385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575" b="1">
                <a:solidFill>
                  <a:srgbClr val="C58A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C58A2B"/>
                </a:solidFill>
                <a:latin typeface="Microsoft YaHei"/>
                <a:ea typeface="Microsoft YaHei"/>
                <a:cs typeface="Microsoft YaHei"/>
              </a:rPr>
              <a:t>1</a:t>
            </a: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AD001171-DA08-4971-800C-0E6DD85018D7}"/>
              </a:ext>
            </a:extLst>
          </p:cNvPr>
          <p:cNvSpPr>
            <a:spLocks noGrp="1"/>
          </p:cNvSpPr>
          <p:nvPr/>
        </p:nvSpPr>
        <p:spPr>
          <a:xfrm>
            <a:off x="8629650" y="1562100"/>
            <a:ext cx="287655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7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有没有回应</a:t>
            </a: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90FB5F74-EEE9-4285-A057-258A4C5DBAA8}"/>
              </a:ext>
            </a:extLst>
          </p:cNvPr>
          <p:cNvSpPr>
            <a:spLocks noGrp="1"/>
          </p:cNvSpPr>
          <p:nvPr/>
        </p:nvSpPr>
        <p:spPr>
          <a:xfrm>
            <a:off x="8629650" y="1905000"/>
            <a:ext cx="2876550" cy="4095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350" b="0">
                <a:solidFill>
                  <a:srgbClr val="AEB8B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AEB8B2"/>
                </a:solidFill>
                <a:latin typeface="Microsoft YaHei"/>
                <a:ea typeface="Microsoft YaHei"/>
                <a:cs typeface="Microsoft YaHei"/>
              </a:rPr>
              <a:t>已回应 / 尚未确认</a:t>
            </a: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86261F80-B286-4656-BE89-9C5696772A2D}"/>
              </a:ext>
            </a:extLst>
          </p:cNvPr>
          <p:cNvSpPr>
            <a:spLocks noGrp="1"/>
          </p:cNvSpPr>
          <p:nvPr/>
        </p:nvSpPr>
        <p:spPr>
          <a:xfrm>
            <a:off x="8172450" y="2343150"/>
            <a:ext cx="3333750" cy="9525"/>
          </a:xfrm>
          <a:prstGeom prst="rect">
            <a:avLst/>
          </a:prstGeom>
          <a:solidFill>
            <a:srgbClr val="39413D"/>
          </a:solidFill>
          <a:ln w="0">
            <a:noFill/>
            <a:prstDash val="solid"/>
          </a:ln>
        </p:spPr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57CFF840-14C7-4C10-BEE5-A38BABAFAD40}"/>
              </a:ext>
            </a:extLst>
          </p:cNvPr>
          <p:cNvSpPr>
            <a:spLocks noGrp="1"/>
          </p:cNvSpPr>
          <p:nvPr/>
        </p:nvSpPr>
        <p:spPr>
          <a:xfrm>
            <a:off x="8172450" y="2457450"/>
            <a:ext cx="32385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575" b="1">
                <a:solidFill>
                  <a:srgbClr val="C58A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C58A2B"/>
                </a:solidFill>
                <a:latin typeface="Microsoft YaHei"/>
                <a:ea typeface="Microsoft YaHei"/>
                <a:cs typeface="Microsoft YaHei"/>
              </a:rPr>
              <a:t>2</a:t>
            </a:r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F27BFF86-EA57-430A-8ACE-9E2681FEDE7B}"/>
              </a:ext>
            </a:extLst>
          </p:cNvPr>
          <p:cNvSpPr>
            <a:spLocks noGrp="1"/>
          </p:cNvSpPr>
          <p:nvPr/>
        </p:nvSpPr>
        <p:spPr>
          <a:xfrm>
            <a:off x="8629650" y="2438400"/>
            <a:ext cx="287655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7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现在哪一级</a:t>
            </a: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84D25C94-82E3-4104-8249-431A07ED5333}"/>
              </a:ext>
            </a:extLst>
          </p:cNvPr>
          <p:cNvSpPr>
            <a:spLocks noGrp="1"/>
          </p:cNvSpPr>
          <p:nvPr/>
        </p:nvSpPr>
        <p:spPr>
          <a:xfrm>
            <a:off x="8629650" y="2781300"/>
            <a:ext cx="2876550" cy="4095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350" b="0">
                <a:solidFill>
                  <a:srgbClr val="AEB8B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AEB8B2"/>
                </a:solidFill>
                <a:latin typeface="Microsoft YaHei"/>
                <a:ea typeface="Microsoft YaHei"/>
                <a:cs typeface="Microsoft YaHei"/>
              </a:rPr>
              <a:t>已回应 / 需关注 / 立即联系</a:t>
            </a: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2C5E69A1-9F12-4940-9B7C-10A7897B6A71}"/>
              </a:ext>
            </a:extLst>
          </p:cNvPr>
          <p:cNvSpPr>
            <a:spLocks noGrp="1"/>
          </p:cNvSpPr>
          <p:nvPr/>
        </p:nvSpPr>
        <p:spPr>
          <a:xfrm>
            <a:off x="8172450" y="3219450"/>
            <a:ext cx="3333750" cy="9525"/>
          </a:xfrm>
          <a:prstGeom prst="rect">
            <a:avLst/>
          </a:prstGeom>
          <a:solidFill>
            <a:srgbClr val="39413D"/>
          </a:solidFill>
          <a:ln w="0">
            <a:noFill/>
            <a:prstDash val="solid"/>
          </a:ln>
        </p:spPr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A9B76502-D70D-43E4-A1EB-E945054C098A}"/>
              </a:ext>
            </a:extLst>
          </p:cNvPr>
          <p:cNvSpPr>
            <a:spLocks noGrp="1"/>
          </p:cNvSpPr>
          <p:nvPr/>
        </p:nvSpPr>
        <p:spPr>
          <a:xfrm>
            <a:off x="8172450" y="3333750"/>
            <a:ext cx="32385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575" b="1">
                <a:solidFill>
                  <a:srgbClr val="C58A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C58A2B"/>
                </a:solidFill>
                <a:latin typeface="Microsoft YaHei"/>
                <a:ea typeface="Microsoft YaHei"/>
                <a:cs typeface="Microsoft YaHei"/>
              </a:rPr>
              <a:t>3</a:t>
            </a:r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F5F594B1-A595-485F-9744-FC29E4B008A6}"/>
              </a:ext>
            </a:extLst>
          </p:cNvPr>
          <p:cNvSpPr>
            <a:spLocks noGrp="1"/>
          </p:cNvSpPr>
          <p:nvPr/>
        </p:nvSpPr>
        <p:spPr>
          <a:xfrm>
            <a:off x="8629650" y="3314700"/>
            <a:ext cx="287655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7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老人原话是什么</a:t>
            </a:r>
          </a:p>
        </p:txBody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FC3A4B3F-16C0-4B69-B574-A4A7BCC42145}"/>
              </a:ext>
            </a:extLst>
          </p:cNvPr>
          <p:cNvSpPr>
            <a:spLocks noGrp="1"/>
          </p:cNvSpPr>
          <p:nvPr/>
        </p:nvSpPr>
        <p:spPr>
          <a:xfrm>
            <a:off x="8629650" y="3657600"/>
            <a:ext cx="2876550" cy="4095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350" b="0">
                <a:solidFill>
                  <a:srgbClr val="AEB8B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AEB8B2"/>
                </a:solidFill>
                <a:latin typeface="Microsoft YaHei"/>
                <a:ea typeface="Microsoft YaHei"/>
                <a:cs typeface="Microsoft YaHei"/>
              </a:rPr>
              <a:t>保留完整表达</a:t>
            </a:r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6CAC0336-C249-4011-8453-9F3E716B0453}"/>
              </a:ext>
            </a:extLst>
          </p:cNvPr>
          <p:cNvSpPr>
            <a:spLocks noGrp="1"/>
          </p:cNvSpPr>
          <p:nvPr/>
        </p:nvSpPr>
        <p:spPr>
          <a:xfrm>
            <a:off x="8172450" y="4095750"/>
            <a:ext cx="3333750" cy="9525"/>
          </a:xfrm>
          <a:prstGeom prst="rect">
            <a:avLst/>
          </a:prstGeom>
          <a:solidFill>
            <a:srgbClr val="39413D"/>
          </a:solidFill>
          <a:ln w="0">
            <a:noFill/>
            <a:prstDash val="solid"/>
          </a:ln>
        </p:spPr>
      </p:sp>
      <p:sp>
        <p:nvSpPr>
          <p:cNvPr id="18" name="矩形 17">
            <a:extLst>
              <a:ext uri="{FF2B5EF4-FFF2-40B4-BE49-F238E27FC236}">
                <a16:creationId xmlns:a16="http://schemas.microsoft.com/office/drawing/2014/main" id="{CC584D67-E3D3-4C3E-B8AC-D1E08F9B4F6D}"/>
              </a:ext>
            </a:extLst>
          </p:cNvPr>
          <p:cNvSpPr>
            <a:spLocks noGrp="1"/>
          </p:cNvSpPr>
          <p:nvPr/>
        </p:nvSpPr>
        <p:spPr>
          <a:xfrm>
            <a:off x="8172450" y="4210050"/>
            <a:ext cx="32385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575" b="1">
                <a:solidFill>
                  <a:srgbClr val="C58A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C58A2B"/>
                </a:solidFill>
                <a:latin typeface="Microsoft YaHei"/>
                <a:ea typeface="Microsoft YaHei"/>
                <a:cs typeface="Microsoft YaHei"/>
              </a:rPr>
              <a:t>4</a:t>
            </a:r>
          </a:p>
        </p:txBody>
      </p:sp>
      <p:sp>
        <p:nvSpPr>
          <p:cNvPr id="19" name="矩形 18">
            <a:extLst>
              <a:ext uri="{FF2B5EF4-FFF2-40B4-BE49-F238E27FC236}">
                <a16:creationId xmlns:a16="http://schemas.microsoft.com/office/drawing/2014/main" id="{EC0C50AE-1944-4721-8603-69D982EE31BE}"/>
              </a:ext>
            </a:extLst>
          </p:cNvPr>
          <p:cNvSpPr>
            <a:spLocks noGrp="1"/>
          </p:cNvSpPr>
          <p:nvPr/>
        </p:nvSpPr>
        <p:spPr>
          <a:xfrm>
            <a:off x="8629650" y="4191000"/>
            <a:ext cx="287655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7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为什么这样判断</a:t>
            </a:r>
          </a:p>
        </p:txBody>
      </p:sp>
      <p:sp>
        <p:nvSpPr>
          <p:cNvPr id="20" name="矩形 19">
            <a:extLst>
              <a:ext uri="{FF2B5EF4-FFF2-40B4-BE49-F238E27FC236}">
                <a16:creationId xmlns:a16="http://schemas.microsoft.com/office/drawing/2014/main" id="{E760EFDA-A66A-4853-8932-F4F6CA046021}"/>
              </a:ext>
            </a:extLst>
          </p:cNvPr>
          <p:cNvSpPr>
            <a:spLocks noGrp="1"/>
          </p:cNvSpPr>
          <p:nvPr/>
        </p:nvSpPr>
        <p:spPr>
          <a:xfrm>
            <a:off x="8629650" y="4533900"/>
            <a:ext cx="2876550" cy="4095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350" b="0">
                <a:solidFill>
                  <a:srgbClr val="AEB8B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AEB8B2"/>
                </a:solidFill>
                <a:latin typeface="Microsoft YaHei"/>
                <a:ea typeface="Microsoft YaHei"/>
                <a:cs typeface="Microsoft YaHei"/>
              </a:rPr>
              <a:t>显示命中事实</a:t>
            </a:r>
          </a:p>
        </p:txBody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C1DE8A76-81AB-4735-9A2D-07C673640451}"/>
              </a:ext>
            </a:extLst>
          </p:cNvPr>
          <p:cNvSpPr>
            <a:spLocks noGrp="1"/>
          </p:cNvSpPr>
          <p:nvPr/>
        </p:nvSpPr>
        <p:spPr>
          <a:xfrm>
            <a:off x="8172450" y="4972050"/>
            <a:ext cx="3333750" cy="9525"/>
          </a:xfrm>
          <a:prstGeom prst="rect">
            <a:avLst/>
          </a:prstGeom>
          <a:solidFill>
            <a:srgbClr val="39413D"/>
          </a:solidFill>
          <a:ln w="0">
            <a:noFill/>
            <a:prstDash val="solid"/>
          </a:ln>
        </p:spPr>
      </p:sp>
      <p:sp>
        <p:nvSpPr>
          <p:cNvPr id="22" name="矩形 21">
            <a:extLst>
              <a:ext uri="{FF2B5EF4-FFF2-40B4-BE49-F238E27FC236}">
                <a16:creationId xmlns:a16="http://schemas.microsoft.com/office/drawing/2014/main" id="{E0E359C5-6EA2-43C1-8C1F-E5D43821BDBB}"/>
              </a:ext>
            </a:extLst>
          </p:cNvPr>
          <p:cNvSpPr>
            <a:spLocks noGrp="1"/>
          </p:cNvSpPr>
          <p:nvPr/>
        </p:nvSpPr>
        <p:spPr>
          <a:xfrm>
            <a:off x="8172450" y="5086350"/>
            <a:ext cx="32385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575" b="1">
                <a:solidFill>
                  <a:srgbClr val="C58A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C58A2B"/>
                </a:solidFill>
                <a:latin typeface="Microsoft YaHei"/>
                <a:ea typeface="Microsoft YaHei"/>
                <a:cs typeface="Microsoft YaHei"/>
              </a:rPr>
              <a:t>5</a:t>
            </a:r>
          </a:p>
        </p:txBody>
      </p:sp>
      <p:sp>
        <p:nvSpPr>
          <p:cNvPr id="23" name="矩形 22">
            <a:extLst>
              <a:ext uri="{FF2B5EF4-FFF2-40B4-BE49-F238E27FC236}">
                <a16:creationId xmlns:a16="http://schemas.microsoft.com/office/drawing/2014/main" id="{435B20B2-D2AF-4D8B-AFBB-F79DA5E840F1}"/>
              </a:ext>
            </a:extLst>
          </p:cNvPr>
          <p:cNvSpPr>
            <a:spLocks noGrp="1"/>
          </p:cNvSpPr>
          <p:nvPr/>
        </p:nvSpPr>
        <p:spPr>
          <a:xfrm>
            <a:off x="8629650" y="5067300"/>
            <a:ext cx="287655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7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我下一步做什么</a:t>
            </a:r>
          </a:p>
        </p:txBody>
      </p:sp>
      <p:sp>
        <p:nvSpPr>
          <p:cNvPr id="24" name="矩形 23">
            <a:extLst>
              <a:ext uri="{FF2B5EF4-FFF2-40B4-BE49-F238E27FC236}">
                <a16:creationId xmlns:a16="http://schemas.microsoft.com/office/drawing/2014/main" id="{92D4C99C-9095-450D-BA85-6C8C025B8B3D}"/>
              </a:ext>
            </a:extLst>
          </p:cNvPr>
          <p:cNvSpPr>
            <a:spLocks noGrp="1"/>
          </p:cNvSpPr>
          <p:nvPr/>
        </p:nvSpPr>
        <p:spPr>
          <a:xfrm>
            <a:off x="8629650" y="5410200"/>
            <a:ext cx="2876550" cy="4095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350" b="0">
                <a:solidFill>
                  <a:srgbClr val="AEB8B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AEB8B2"/>
                </a:solidFill>
                <a:latin typeface="Microsoft YaHei"/>
                <a:ea typeface="Microsoft YaHei"/>
                <a:cs typeface="Microsoft YaHei"/>
              </a:rPr>
              <a:t>无需操作 / 尽快回拨 / 按预案求助</a:t>
            </a:r>
          </a:p>
        </p:txBody>
      </p:sp>
      <p:sp>
        <p:nvSpPr>
          <p:cNvPr id="25" name="矩形 24">
            <a:extLst>
              <a:ext uri="{FF2B5EF4-FFF2-40B4-BE49-F238E27FC236}">
                <a16:creationId xmlns:a16="http://schemas.microsoft.com/office/drawing/2014/main" id="{F0D5B848-8020-4464-A994-76864C29B742}"/>
              </a:ext>
            </a:extLst>
          </p:cNvPr>
          <p:cNvSpPr>
            <a:spLocks noGrp="1"/>
          </p:cNvSpPr>
          <p:nvPr/>
        </p:nvSpPr>
        <p:spPr>
          <a:xfrm>
            <a:off x="609600" y="6486525"/>
            <a:ext cx="10972800" cy="9525"/>
          </a:xfrm>
          <a:prstGeom prst="rect">
            <a:avLst/>
          </a:prstGeom>
          <a:solidFill>
            <a:srgbClr val="356052"/>
          </a:solidFill>
          <a:ln w="0">
            <a:noFill/>
            <a:prstDash val="solid"/>
          </a:ln>
        </p:spPr>
      </p:sp>
      <p:sp>
        <p:nvSpPr>
          <p:cNvPr id="26" name="矩形 25">
            <a:extLst>
              <a:ext uri="{FF2B5EF4-FFF2-40B4-BE49-F238E27FC236}">
                <a16:creationId xmlns:a16="http://schemas.microsoft.com/office/drawing/2014/main" id="{E2A7E9F0-A7F3-4FE0-AE7F-DF8B3BDF8C07}"/>
              </a:ext>
            </a:extLst>
          </p:cNvPr>
          <p:cNvSpPr>
            <a:spLocks noGrp="1"/>
          </p:cNvSpPr>
          <p:nvPr/>
        </p:nvSpPr>
        <p:spPr>
          <a:xfrm>
            <a:off x="609600" y="6572250"/>
            <a:ext cx="542925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975" b="0">
                <a:solidFill>
                  <a:srgbClr val="ADC0B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ADC0B6"/>
                </a:solidFill>
                <a:latin typeface="Microsoft YaHei"/>
                <a:ea typeface="Microsoft YaHei"/>
                <a:cs typeface="Microsoft YaHei"/>
              </a:rPr>
              <a:t>不监控  ·  不诊断  ·  只同步必要信息</a:t>
            </a:r>
          </a:p>
        </p:txBody>
      </p:sp>
      <p:sp>
        <p:nvSpPr>
          <p:cNvPr id="27" name="矩形 26">
            <a:extLst>
              <a:ext uri="{FF2B5EF4-FFF2-40B4-BE49-F238E27FC236}">
                <a16:creationId xmlns:a16="http://schemas.microsoft.com/office/drawing/2014/main" id="{DA98B880-9248-4B88-86E2-ADE0AABF8438}"/>
              </a:ext>
            </a:extLst>
          </p:cNvPr>
          <p:cNvSpPr>
            <a:spLocks noGrp="1"/>
          </p:cNvSpPr>
          <p:nvPr/>
        </p:nvSpPr>
        <p:spPr>
          <a:xfrm>
            <a:off x="10668000" y="6572250"/>
            <a:ext cx="9144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r">
              <a:defRPr sz="975" b="0">
                <a:solidFill>
                  <a:srgbClr val="ADC0B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ADC0B6"/>
                </a:solidFill>
                <a:latin typeface="Microsoft YaHei"/>
                <a:ea typeface="Microsoft YaHei"/>
                <a:cs typeface="Microsoft YaHei"/>
              </a:rPr>
              <a:t>05 / 12</a:t>
            </a:r>
          </a:p>
        </p:txBody>
      </p:sp>
    </p:spTree>
    <p:extLst>
      <p:ext uri="{BB962C8B-B14F-4D97-AF65-F5344CB8AC3E}">
        <p14:creationId xmlns:p14="http://schemas.microsoft.com/office/powerpoint/2010/main" val="98013812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6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矩形 14">
            <a:extLst>
              <a:ext uri="{FF2B5EF4-FFF2-40B4-BE49-F238E27FC236}">
                <a16:creationId xmlns:a16="http://schemas.microsoft.com/office/drawing/2014/main" id="{E71C07DA-7E4F-4C5B-8B4E-E5D667606AF8}"/>
              </a:ext>
            </a:extLst>
          </p:cNvPr>
          <p:cNvSpPr>
            <a:spLocks noGrp="1"/>
          </p:cNvSpPr>
          <p:nvPr/>
        </p:nvSpPr>
        <p:spPr>
          <a:xfrm>
            <a:off x="609600" y="342900"/>
            <a:ext cx="42862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200" b="1">
                <a:solidFill>
                  <a:srgbClr val="68716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68716B"/>
                </a:solidFill>
                <a:latin typeface="Microsoft YaHei"/>
                <a:ea typeface="Microsoft YaHei"/>
                <a:cs typeface="Microsoft YaHei"/>
              </a:rPr>
              <a:t>安心问候  /  最强特点</a:t>
            </a: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48B952B3-231B-48E4-B1C9-9DE58086D565}"/>
              </a:ext>
            </a:extLst>
          </p:cNvPr>
          <p:cNvSpPr>
            <a:spLocks noGrp="1"/>
          </p:cNvSpPr>
          <p:nvPr/>
        </p:nvSpPr>
        <p:spPr>
          <a:xfrm>
            <a:off x="11334750" y="342900"/>
            <a:ext cx="2857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r">
              <a:defRPr sz="1200" b="1">
                <a:solidFill>
                  <a:srgbClr val="68716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68716B"/>
                </a:solidFill>
                <a:latin typeface="Microsoft YaHei"/>
                <a:ea typeface="Microsoft YaHei"/>
                <a:cs typeface="Microsoft YaHei"/>
              </a:rPr>
              <a:t>06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23A7AAF8-5034-4661-8798-3746E3421D14}"/>
              </a:ext>
            </a:extLst>
          </p:cNvPr>
          <p:cNvSpPr>
            <a:spLocks noGrp="1"/>
          </p:cNvSpPr>
          <p:nvPr/>
        </p:nvSpPr>
        <p:spPr>
          <a:xfrm>
            <a:off x="609600" y="742950"/>
            <a:ext cx="8763000" cy="723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3750" b="1">
                <a:solidFill>
                  <a:srgbClr val="151A1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750" b="1">
                <a:solidFill>
                  <a:srgbClr val="151A17"/>
                </a:solidFill>
                <a:latin typeface="Microsoft YaHei"/>
                <a:ea typeface="Microsoft YaHei"/>
                <a:cs typeface="Microsoft YaHei"/>
              </a:rPr>
              <a:t>判断必须回到老人原话</a:t>
            </a: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6590054C-F26F-44A9-AAC3-1D7B22F9338A}"/>
              </a:ext>
            </a:extLst>
          </p:cNvPr>
          <p:cNvSpPr>
            <a:spLocks noGrp="1"/>
          </p:cNvSpPr>
          <p:nvPr/>
        </p:nvSpPr>
        <p:spPr>
          <a:xfrm>
            <a:off x="628650" y="1809750"/>
            <a:ext cx="4095750" cy="1162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3225" b="1">
                <a:solidFill>
                  <a:srgbClr val="0E3329"/>
                </a:solidFill>
                <a:latin typeface="SimSun"/>
                <a:ea typeface="SimSun"/>
                <a:cs typeface="SimSun"/>
              </a:defRPr>
            </a:pPr>
            <a:r>
              <a:rPr sz="3225" b="1">
                <a:solidFill>
                  <a:srgbClr val="0E3329"/>
                </a:solidFill>
                <a:latin typeface="SimSun"/>
                <a:ea typeface="SimSun"/>
                <a:cs typeface="SimSun"/>
              </a:rPr>
              <a:t>“我摔了，</a:t>
            </a:r>
          </a:p>
          <a:p>
            <a:pPr algn="l">
              <a:defRPr sz="3225" b="1">
                <a:solidFill>
                  <a:srgbClr val="0E3329"/>
                </a:solidFill>
                <a:latin typeface="SimSun"/>
                <a:ea typeface="SimSun"/>
                <a:cs typeface="SimSun"/>
              </a:defRPr>
            </a:pPr>
            <a:r>
              <a:rPr sz="3225" b="1">
                <a:solidFill>
                  <a:srgbClr val="0E3329"/>
                </a:solidFill>
                <a:latin typeface="SimSun"/>
                <a:ea typeface="SimSun"/>
                <a:cs typeface="SimSun"/>
              </a:rPr>
              <a:t>起不来了。”</a:t>
            </a: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12AEA579-49A4-4AEF-858C-43E0DC05BDC1}"/>
              </a:ext>
            </a:extLst>
          </p:cNvPr>
          <p:cNvSpPr>
            <a:spLocks noGrp="1"/>
          </p:cNvSpPr>
          <p:nvPr/>
        </p:nvSpPr>
        <p:spPr>
          <a:xfrm>
            <a:off x="628650" y="3152775"/>
            <a:ext cx="3867150" cy="38100"/>
          </a:xfrm>
          <a:prstGeom prst="rect">
            <a:avLst/>
          </a:prstGeom>
          <a:solidFill>
            <a:srgbClr val="B83A31"/>
          </a:solidFill>
          <a:ln w="0">
            <a:noFill/>
            <a:prstDash val="solid"/>
          </a:ln>
        </p:spPr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5FCB2EA3-93A1-4FBF-920C-A54AF31146CB}"/>
              </a:ext>
            </a:extLst>
          </p:cNvPr>
          <p:cNvSpPr>
            <a:spLocks noGrp="1"/>
          </p:cNvSpPr>
          <p:nvPr/>
        </p:nvSpPr>
        <p:spPr>
          <a:xfrm>
            <a:off x="628650" y="3486150"/>
            <a:ext cx="16192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875" b="1">
                <a:solidFill>
                  <a:srgbClr val="B83A3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B83A31"/>
                </a:solidFill>
                <a:latin typeface="Microsoft YaHei"/>
                <a:ea typeface="Microsoft YaHei"/>
                <a:cs typeface="Microsoft YaHei"/>
              </a:rPr>
              <a:t>原话证据</a:t>
            </a: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49554CEE-9FF4-48C3-982D-10318F9FBBEA}"/>
              </a:ext>
            </a:extLst>
          </p:cNvPr>
          <p:cNvSpPr>
            <a:spLocks noGrp="1"/>
          </p:cNvSpPr>
          <p:nvPr/>
        </p:nvSpPr>
        <p:spPr>
          <a:xfrm>
            <a:off x="628650" y="3943350"/>
            <a:ext cx="4095750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650" b="0">
                <a:solidFill>
                  <a:srgbClr val="151A1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151A17"/>
                </a:solidFill>
                <a:latin typeface="Microsoft YaHei"/>
                <a:ea typeface="Microsoft YaHei"/>
                <a:cs typeface="Microsoft YaHei"/>
              </a:rPr>
              <a:t>命中片段：“摔了”、“起不来了”</a:t>
            </a: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BF2CB738-FAB4-4D99-B19A-B1B248082397}"/>
              </a:ext>
            </a:extLst>
          </p:cNvPr>
          <p:cNvSpPr>
            <a:spLocks noGrp="1"/>
          </p:cNvSpPr>
          <p:nvPr/>
        </p:nvSpPr>
        <p:spPr>
          <a:xfrm>
            <a:off x="628650" y="4667250"/>
            <a:ext cx="4095750" cy="742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800" b="1">
                <a:solidFill>
                  <a:srgbClr val="151A1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151A17"/>
                </a:solidFill>
                <a:latin typeface="Microsoft YaHei"/>
                <a:ea typeface="Microsoft YaHei"/>
                <a:cs typeface="Microsoft YaHei"/>
              </a:rPr>
              <a:t>系统不给出医疗诊断；</a:t>
            </a:r>
          </a:p>
          <a:p>
            <a:pPr algn="l">
              <a:defRPr sz="1800" b="1">
                <a:solidFill>
                  <a:srgbClr val="151A1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151A17"/>
                </a:solidFill>
                <a:latin typeface="Microsoft YaHei"/>
                <a:ea typeface="Microsoft YaHei"/>
                <a:cs typeface="Microsoft YaHei"/>
              </a:rPr>
              <a:t>只建议家属立即人工联系。</a:t>
            </a: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2F07EF01-50FD-46CC-8710-078A24046C3A}"/>
              </a:ext>
            </a:extLst>
          </p:cNvPr>
          <p:cNvSpPr>
            <a:spLocks noGrp="1"/>
          </p:cNvSpPr>
          <p:nvPr/>
        </p:nvSpPr>
        <p:spPr>
          <a:xfrm>
            <a:off x="628650" y="5657850"/>
            <a:ext cx="409575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500" b="0">
                <a:solidFill>
                  <a:srgbClr val="68716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68716B"/>
                </a:solidFill>
                <a:latin typeface="Microsoft YaHei"/>
                <a:ea typeface="Microsoft YaHei"/>
                <a:cs typeface="Microsoft YaHei"/>
              </a:rPr>
              <a:t>不是一个无法解释的风险分数。</a:t>
            </a:r>
          </a:p>
        </p:txBody>
      </p:sp>
      <p:sp>
        <p:nvSpPr>
          <p:cNvPr id="10" name="矩形: 圆角 9">
            <a:extLst>
              <a:ext uri="{FF2B5EF4-FFF2-40B4-BE49-F238E27FC236}">
                <a16:creationId xmlns:a16="http://schemas.microsoft.com/office/drawing/2014/main" id="{E2881C8C-D923-451B-853E-EDC52F869519}"/>
              </a:ext>
            </a:extLst>
          </p:cNvPr>
          <p:cNvSpPr>
            <a:spLocks noGrp="1"/>
          </p:cNvSpPr>
          <p:nvPr/>
        </p:nvSpPr>
        <p:spPr>
          <a:xfrm>
            <a:off x="5219700" y="1428750"/>
            <a:ext cx="6362700" cy="4762500"/>
          </a:xfrm>
          <a:prstGeom prst="roundRect">
            <a:avLst>
              <a:gd name="adj" fmla="val 800"/>
            </a:avLst>
          </a:prstGeom>
          <a:solidFill>
            <a:srgbClr val="FFFFFF"/>
          </a:solidFill>
          <a:ln w="9525">
            <a:solidFill>
              <a:srgbClr val="CDD3CE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</p:sp>
      <p:pic>
        <p:nvPicPr>
          <p:cNvPr id="25" name="图片 24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5353050" y="1692442"/>
            <a:ext cx="6096000" cy="4235116"/>
          </a:xfrm>
          <a:prstGeom prst="rect">
            <a:avLst/>
          </a:prstGeom>
        </p:spPr>
      </p:pic>
      <p:sp>
        <p:nvSpPr>
          <p:cNvPr id="12" name="矩形 11">
            <a:extLst>
              <a:ext uri="{FF2B5EF4-FFF2-40B4-BE49-F238E27FC236}">
                <a16:creationId xmlns:a16="http://schemas.microsoft.com/office/drawing/2014/main" id="{49B476D9-1439-45CD-AA1A-CCFE122A2FBE}"/>
              </a:ext>
            </a:extLst>
          </p:cNvPr>
          <p:cNvSpPr>
            <a:spLocks noGrp="1"/>
          </p:cNvSpPr>
          <p:nvPr/>
        </p:nvSpPr>
        <p:spPr>
          <a:xfrm>
            <a:off x="609600" y="6486525"/>
            <a:ext cx="10972800" cy="9525"/>
          </a:xfrm>
          <a:prstGeom prst="rect">
            <a:avLst/>
          </a:prstGeom>
          <a:solidFill>
            <a:srgbClr val="CDD3CE"/>
          </a:solidFill>
          <a:ln w="0">
            <a:noFill/>
            <a:prstDash val="solid"/>
          </a:ln>
        </p:spPr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0C351641-8E9F-44E3-8208-733FB08A31AD}"/>
              </a:ext>
            </a:extLst>
          </p:cNvPr>
          <p:cNvSpPr>
            <a:spLocks noGrp="1"/>
          </p:cNvSpPr>
          <p:nvPr/>
        </p:nvSpPr>
        <p:spPr>
          <a:xfrm>
            <a:off x="609600" y="6572250"/>
            <a:ext cx="542925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975" b="0">
                <a:solidFill>
                  <a:srgbClr val="68716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68716B"/>
                </a:solidFill>
                <a:latin typeface="Microsoft YaHei"/>
                <a:ea typeface="Microsoft YaHei"/>
                <a:cs typeface="Microsoft YaHei"/>
              </a:rPr>
              <a:t>不监控  ·  不诊断  ·  只同步必要信息</a:t>
            </a:r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E5578D68-208F-44A7-8A8B-1D31272F0CE2}"/>
              </a:ext>
            </a:extLst>
          </p:cNvPr>
          <p:cNvSpPr>
            <a:spLocks noGrp="1"/>
          </p:cNvSpPr>
          <p:nvPr/>
        </p:nvSpPr>
        <p:spPr>
          <a:xfrm>
            <a:off x="10668000" y="6572250"/>
            <a:ext cx="9144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r">
              <a:defRPr sz="975" b="0">
                <a:solidFill>
                  <a:srgbClr val="68716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68716B"/>
                </a:solidFill>
                <a:latin typeface="Microsoft YaHei"/>
                <a:ea typeface="Microsoft YaHei"/>
                <a:cs typeface="Microsoft YaHei"/>
              </a:rPr>
              <a:t>06 / 12</a:t>
            </a:r>
          </a:p>
        </p:txBody>
      </p:sp>
    </p:spTree>
    <p:extLst>
      <p:ext uri="{BB962C8B-B14F-4D97-AF65-F5344CB8AC3E}">
        <p14:creationId xmlns:p14="http://schemas.microsoft.com/office/powerpoint/2010/main" val="185834514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E332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矩形 26">
            <a:extLst>
              <a:ext uri="{FF2B5EF4-FFF2-40B4-BE49-F238E27FC236}">
                <a16:creationId xmlns:a16="http://schemas.microsoft.com/office/drawing/2014/main" id="{EAA3CFB5-4C34-439B-894D-8099A9444899}"/>
              </a:ext>
            </a:extLst>
          </p:cNvPr>
          <p:cNvSpPr>
            <a:spLocks noGrp="1"/>
          </p:cNvSpPr>
          <p:nvPr/>
        </p:nvSpPr>
        <p:spPr>
          <a:xfrm>
            <a:off x="609600" y="342900"/>
            <a:ext cx="42862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200" b="1">
                <a:solidFill>
                  <a:srgbClr val="D5E0D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D5E0D9"/>
                </a:solidFill>
                <a:latin typeface="Microsoft YaHei"/>
                <a:ea typeface="Microsoft YaHei"/>
                <a:cs typeface="Microsoft YaHei"/>
              </a:rPr>
              <a:t>安心问候  /  安全边界</a:t>
            </a: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8A43B169-EFF7-49DD-8454-2B05B414ED1A}"/>
              </a:ext>
            </a:extLst>
          </p:cNvPr>
          <p:cNvSpPr>
            <a:spLocks noGrp="1"/>
          </p:cNvSpPr>
          <p:nvPr/>
        </p:nvSpPr>
        <p:spPr>
          <a:xfrm>
            <a:off x="11334750" y="342900"/>
            <a:ext cx="2857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r">
              <a:defRPr sz="1200" b="1">
                <a:solidFill>
                  <a:srgbClr val="D5E0D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D5E0D9"/>
                </a:solidFill>
                <a:latin typeface="Microsoft YaHei"/>
                <a:ea typeface="Microsoft YaHei"/>
                <a:cs typeface="Microsoft YaHei"/>
              </a:rPr>
              <a:t>07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7F9F51FA-7BAB-4502-B472-32C3419C1F97}"/>
              </a:ext>
            </a:extLst>
          </p:cNvPr>
          <p:cNvSpPr>
            <a:spLocks noGrp="1"/>
          </p:cNvSpPr>
          <p:nvPr/>
        </p:nvSpPr>
        <p:spPr>
          <a:xfrm>
            <a:off x="609600" y="742950"/>
            <a:ext cx="11049000" cy="723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34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4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最难的不是提醒，而是知道何时不下结论</a:t>
            </a: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23005807-0CB3-4B51-ABF3-BB53F4F2C631}"/>
              </a:ext>
            </a:extLst>
          </p:cNvPr>
          <p:cNvSpPr>
            <a:spLocks noGrp="1"/>
          </p:cNvSpPr>
          <p:nvPr/>
        </p:nvSpPr>
        <p:spPr>
          <a:xfrm>
            <a:off x="628650" y="1695450"/>
            <a:ext cx="14287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350" b="1">
                <a:solidFill>
                  <a:srgbClr val="AFC2B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AFC2B8"/>
                </a:solidFill>
                <a:latin typeface="Microsoft YaHei"/>
                <a:ea typeface="Microsoft YaHei"/>
                <a:cs typeface="Microsoft YaHei"/>
              </a:rPr>
              <a:t>场景</a:t>
            </a: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85E4FCAD-53DA-4ADE-9CC9-C42EE0FAC4FC}"/>
              </a:ext>
            </a:extLst>
          </p:cNvPr>
          <p:cNvSpPr>
            <a:spLocks noGrp="1"/>
          </p:cNvSpPr>
          <p:nvPr/>
        </p:nvSpPr>
        <p:spPr>
          <a:xfrm>
            <a:off x="2686050" y="1695450"/>
            <a:ext cx="31432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350" b="1">
                <a:solidFill>
                  <a:srgbClr val="AFC2B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AFC2B8"/>
                </a:solidFill>
                <a:latin typeface="Microsoft YaHei"/>
                <a:ea typeface="Microsoft YaHei"/>
                <a:cs typeface="Microsoft YaHei"/>
              </a:rPr>
              <a:t>系统怎么说</a:t>
            </a: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4EF9B593-E8BB-421D-AB1D-8593D29BC616}"/>
              </a:ext>
            </a:extLst>
          </p:cNvPr>
          <p:cNvSpPr>
            <a:spLocks noGrp="1"/>
          </p:cNvSpPr>
          <p:nvPr/>
        </p:nvSpPr>
        <p:spPr>
          <a:xfrm>
            <a:off x="7581900" y="1695450"/>
            <a:ext cx="31432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350" b="1">
                <a:solidFill>
                  <a:srgbClr val="AFC2B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AFC2B8"/>
                </a:solidFill>
                <a:latin typeface="Microsoft YaHei"/>
                <a:ea typeface="Microsoft YaHei"/>
                <a:cs typeface="Microsoft YaHei"/>
              </a:rPr>
              <a:t>明确不说什么</a:t>
            </a: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65CC245C-B806-4661-9F60-04160D6A2DC7}"/>
              </a:ext>
            </a:extLst>
          </p:cNvPr>
          <p:cNvSpPr>
            <a:spLocks noGrp="1"/>
          </p:cNvSpPr>
          <p:nvPr/>
        </p:nvSpPr>
        <p:spPr>
          <a:xfrm>
            <a:off x="628650" y="2076450"/>
            <a:ext cx="10934700" cy="19050"/>
          </a:xfrm>
          <a:prstGeom prst="rect">
            <a:avLst/>
          </a:prstGeom>
          <a:solidFill>
            <a:srgbClr val="436A5E"/>
          </a:solidFill>
          <a:ln w="0">
            <a:noFill/>
            <a:prstDash val="solid"/>
          </a:ln>
        </p:spPr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5F09F36B-B03D-4BB2-A5F0-DACB6D301902}"/>
              </a:ext>
            </a:extLst>
          </p:cNvPr>
          <p:cNvSpPr>
            <a:spLocks noGrp="1"/>
          </p:cNvSpPr>
          <p:nvPr/>
        </p:nvSpPr>
        <p:spPr>
          <a:xfrm>
            <a:off x="628650" y="2343150"/>
            <a:ext cx="76200" cy="781050"/>
          </a:xfrm>
          <a:prstGeom prst="rect">
            <a:avLst/>
          </a:prstGeom>
          <a:solidFill>
            <a:srgbClr val="3F7183"/>
          </a:solidFill>
          <a:ln w="0">
            <a:noFill/>
            <a:prstDash val="solid"/>
          </a:ln>
        </p:spPr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0C87E1ED-C34C-4FAA-B393-40B2DA50A4F7}"/>
              </a:ext>
            </a:extLst>
          </p:cNvPr>
          <p:cNvSpPr>
            <a:spLocks noGrp="1"/>
          </p:cNvSpPr>
          <p:nvPr/>
        </p:nvSpPr>
        <p:spPr>
          <a:xfrm>
            <a:off x="914400" y="2305050"/>
            <a:ext cx="1524000" cy="762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>
            <a:normAutofit/>
          </a:bodyPr>
          <a:lstStyle/>
          <a:p>
            <a:pPr algn="l">
              <a:defRPr sz="18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两次未响应</a:t>
            </a: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DF28B008-D2C8-4C2B-8679-5FC2D65F8A8B}"/>
              </a:ext>
            </a:extLst>
          </p:cNvPr>
          <p:cNvSpPr>
            <a:spLocks noGrp="1"/>
          </p:cNvSpPr>
          <p:nvPr/>
        </p:nvSpPr>
        <p:spPr>
          <a:xfrm>
            <a:off x="2686050" y="2305050"/>
            <a:ext cx="3810000" cy="762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>
            <a:normAutofit/>
          </a:bodyPr>
          <a:lstStyle/>
          <a:p>
            <a:pPr algn="l">
              <a:defRPr sz="1875" b="1">
                <a:solidFill>
                  <a:srgbClr val="DCE8E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DCE8EC"/>
                </a:solidFill>
                <a:latin typeface="Microsoft YaHei"/>
                <a:ea typeface="Microsoft YaHei"/>
                <a:cs typeface="Microsoft YaHei"/>
              </a:rPr>
              <a:t>今日尚未确认</a:t>
            </a:r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17EB7FCA-0B20-4440-BE24-9467604210E7}"/>
              </a:ext>
            </a:extLst>
          </p:cNvPr>
          <p:cNvSpPr>
            <a:spLocks noGrp="1"/>
          </p:cNvSpPr>
          <p:nvPr/>
        </p:nvSpPr>
        <p:spPr>
          <a:xfrm>
            <a:off x="7581900" y="2305050"/>
            <a:ext cx="3714750" cy="762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>
            <a:normAutofit/>
          </a:bodyPr>
          <a:lstStyle/>
          <a:p>
            <a:pPr algn="l">
              <a:defRPr sz="1725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不等于遇险</a:t>
            </a: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94D4311A-F4BC-4A94-B5FF-913512D3D0F4}"/>
              </a:ext>
            </a:extLst>
          </p:cNvPr>
          <p:cNvSpPr>
            <a:spLocks noGrp="1"/>
          </p:cNvSpPr>
          <p:nvPr/>
        </p:nvSpPr>
        <p:spPr>
          <a:xfrm>
            <a:off x="914400" y="3295650"/>
            <a:ext cx="10382250" cy="9525"/>
          </a:xfrm>
          <a:prstGeom prst="rect">
            <a:avLst/>
          </a:prstGeom>
          <a:solidFill>
            <a:srgbClr val="365D51"/>
          </a:solidFill>
          <a:ln w="0">
            <a:noFill/>
            <a:prstDash val="solid"/>
          </a:ln>
        </p:spPr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4357D1EE-A4B7-49F1-9222-8225A6FF5E1A}"/>
              </a:ext>
            </a:extLst>
          </p:cNvPr>
          <p:cNvSpPr>
            <a:spLocks noGrp="1"/>
          </p:cNvSpPr>
          <p:nvPr/>
        </p:nvSpPr>
        <p:spPr>
          <a:xfrm>
            <a:off x="628650" y="3543300"/>
            <a:ext cx="76200" cy="781050"/>
          </a:xfrm>
          <a:prstGeom prst="rect">
            <a:avLst/>
          </a:prstGeom>
          <a:solidFill>
            <a:srgbClr val="C58A2B"/>
          </a:solidFill>
          <a:ln w="0">
            <a:noFill/>
            <a:prstDash val="solid"/>
          </a:ln>
        </p:spPr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5810E224-2F12-4572-BF45-A0EAB616E8B2}"/>
              </a:ext>
            </a:extLst>
          </p:cNvPr>
          <p:cNvSpPr>
            <a:spLocks noGrp="1"/>
          </p:cNvSpPr>
          <p:nvPr/>
        </p:nvSpPr>
        <p:spPr>
          <a:xfrm>
            <a:off x="914400" y="3505200"/>
            <a:ext cx="1524000" cy="762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>
            <a:normAutofit/>
          </a:bodyPr>
          <a:lstStyle/>
          <a:p>
            <a:pPr algn="l">
              <a:defRPr sz="18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询问加药</a:t>
            </a:r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013F20AF-A9B3-468E-9395-BD41ED2BF56B}"/>
              </a:ext>
            </a:extLst>
          </p:cNvPr>
          <p:cNvSpPr>
            <a:spLocks noGrp="1"/>
          </p:cNvSpPr>
          <p:nvPr/>
        </p:nvSpPr>
        <p:spPr>
          <a:xfrm>
            <a:off x="2686050" y="3505200"/>
            <a:ext cx="3810000" cy="762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>
            <a:normAutofit/>
          </a:bodyPr>
          <a:lstStyle/>
          <a:p>
            <a:pPr algn="l">
              <a:defRPr sz="1875" b="1">
                <a:solidFill>
                  <a:srgbClr val="F1E3C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F1E3C4"/>
                </a:solidFill>
                <a:latin typeface="Microsoft YaHei"/>
                <a:ea typeface="Microsoft YaHei"/>
                <a:cs typeface="Microsoft YaHei"/>
              </a:rPr>
              <a:t>拒绝剂量建议，转医生/药师</a:t>
            </a:r>
          </a:p>
        </p:txBody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26D2B4C4-EB69-4E0C-93BD-367734225FDF}"/>
              </a:ext>
            </a:extLst>
          </p:cNvPr>
          <p:cNvSpPr>
            <a:spLocks noGrp="1"/>
          </p:cNvSpPr>
          <p:nvPr/>
        </p:nvSpPr>
        <p:spPr>
          <a:xfrm>
            <a:off x="7581900" y="3505200"/>
            <a:ext cx="3714750" cy="762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>
            <a:normAutofit/>
          </a:bodyPr>
          <a:lstStyle/>
          <a:p>
            <a:pPr algn="l">
              <a:defRPr sz="1725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不替老人调整用药</a:t>
            </a:r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0591505E-D1ED-4852-BBF9-D7C71A8919D1}"/>
              </a:ext>
            </a:extLst>
          </p:cNvPr>
          <p:cNvSpPr>
            <a:spLocks noGrp="1"/>
          </p:cNvSpPr>
          <p:nvPr/>
        </p:nvSpPr>
        <p:spPr>
          <a:xfrm>
            <a:off x="914400" y="4495800"/>
            <a:ext cx="10382250" cy="9525"/>
          </a:xfrm>
          <a:prstGeom prst="rect">
            <a:avLst/>
          </a:prstGeom>
          <a:solidFill>
            <a:srgbClr val="365D51"/>
          </a:solidFill>
          <a:ln w="0">
            <a:noFill/>
            <a:prstDash val="solid"/>
          </a:ln>
        </p:spPr>
      </p:sp>
      <p:sp>
        <p:nvSpPr>
          <p:cNvPr id="18" name="矩形 17">
            <a:extLst>
              <a:ext uri="{FF2B5EF4-FFF2-40B4-BE49-F238E27FC236}">
                <a16:creationId xmlns:a16="http://schemas.microsoft.com/office/drawing/2014/main" id="{8FF51D5F-8DDF-4F82-AECE-E04BAD33B116}"/>
              </a:ext>
            </a:extLst>
          </p:cNvPr>
          <p:cNvSpPr>
            <a:spLocks noGrp="1"/>
          </p:cNvSpPr>
          <p:nvPr/>
        </p:nvSpPr>
        <p:spPr>
          <a:xfrm>
            <a:off x="628650" y="4743450"/>
            <a:ext cx="76200" cy="781050"/>
          </a:xfrm>
          <a:prstGeom prst="rect">
            <a:avLst/>
          </a:prstGeom>
          <a:solidFill>
            <a:srgbClr val="B83A31"/>
          </a:solidFill>
          <a:ln w="0">
            <a:noFill/>
            <a:prstDash val="solid"/>
          </a:ln>
        </p:spPr>
      </p:sp>
      <p:sp>
        <p:nvSpPr>
          <p:cNvPr id="19" name="矩形 18">
            <a:extLst>
              <a:ext uri="{FF2B5EF4-FFF2-40B4-BE49-F238E27FC236}">
                <a16:creationId xmlns:a16="http://schemas.microsoft.com/office/drawing/2014/main" id="{DE6AAF50-F1CE-48B2-A21A-0085EB80C9E8}"/>
              </a:ext>
            </a:extLst>
          </p:cNvPr>
          <p:cNvSpPr>
            <a:spLocks noGrp="1"/>
          </p:cNvSpPr>
          <p:nvPr/>
        </p:nvSpPr>
        <p:spPr>
          <a:xfrm>
            <a:off x="914400" y="4705350"/>
            <a:ext cx="1524000" cy="762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>
            <a:normAutofit/>
          </a:bodyPr>
          <a:lstStyle/>
          <a:p>
            <a:pPr algn="l">
              <a:defRPr sz="18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明确紧急原话</a:t>
            </a:r>
          </a:p>
        </p:txBody>
      </p:sp>
      <p:sp>
        <p:nvSpPr>
          <p:cNvPr id="20" name="矩形 19">
            <a:extLst>
              <a:ext uri="{FF2B5EF4-FFF2-40B4-BE49-F238E27FC236}">
                <a16:creationId xmlns:a16="http://schemas.microsoft.com/office/drawing/2014/main" id="{6A668E1B-1C81-41EB-BD20-EAD6C2838D25}"/>
              </a:ext>
            </a:extLst>
          </p:cNvPr>
          <p:cNvSpPr>
            <a:spLocks noGrp="1"/>
          </p:cNvSpPr>
          <p:nvPr/>
        </p:nvSpPr>
        <p:spPr>
          <a:xfrm>
            <a:off x="2686050" y="4705350"/>
            <a:ext cx="3810000" cy="762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>
            <a:normAutofit/>
          </a:bodyPr>
          <a:lstStyle/>
          <a:p>
            <a:pPr algn="l">
              <a:defRPr sz="1875" b="1">
                <a:solidFill>
                  <a:srgbClr val="F0D8D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F0D8D4"/>
                </a:solidFill>
                <a:latin typeface="Microsoft YaHei"/>
                <a:ea typeface="Microsoft YaHei"/>
                <a:cs typeface="Microsoft YaHei"/>
              </a:rPr>
              <a:t>建议家属立即人工联系</a:t>
            </a:r>
          </a:p>
        </p:txBody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AE59CAB5-1DD7-48F4-B25E-22A118699909}"/>
              </a:ext>
            </a:extLst>
          </p:cNvPr>
          <p:cNvSpPr>
            <a:spLocks noGrp="1"/>
          </p:cNvSpPr>
          <p:nvPr/>
        </p:nvSpPr>
        <p:spPr>
          <a:xfrm>
            <a:off x="7581900" y="4705350"/>
            <a:ext cx="3714750" cy="762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>
            <a:normAutofit/>
          </a:bodyPr>
          <a:lstStyle/>
          <a:p>
            <a:pPr algn="l">
              <a:defRPr sz="1725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不声称已通知或已呼救</a:t>
            </a:r>
          </a:p>
        </p:txBody>
      </p:sp>
      <p:sp>
        <p:nvSpPr>
          <p:cNvPr id="22" name="矩形 21">
            <a:extLst>
              <a:ext uri="{FF2B5EF4-FFF2-40B4-BE49-F238E27FC236}">
                <a16:creationId xmlns:a16="http://schemas.microsoft.com/office/drawing/2014/main" id="{60CA57C3-E550-4576-B57E-BA2D3E257B6C}"/>
              </a:ext>
            </a:extLst>
          </p:cNvPr>
          <p:cNvSpPr>
            <a:spLocks noGrp="1"/>
          </p:cNvSpPr>
          <p:nvPr/>
        </p:nvSpPr>
        <p:spPr>
          <a:xfrm>
            <a:off x="914400" y="5695950"/>
            <a:ext cx="10382250" cy="9525"/>
          </a:xfrm>
          <a:prstGeom prst="rect">
            <a:avLst/>
          </a:prstGeom>
          <a:solidFill>
            <a:srgbClr val="365D51"/>
          </a:solidFill>
          <a:ln w="0">
            <a:noFill/>
            <a:prstDash val="solid"/>
          </a:ln>
        </p:spPr>
      </p:sp>
      <p:sp>
        <p:nvSpPr>
          <p:cNvPr id="23" name="矩形 22">
            <a:extLst>
              <a:ext uri="{FF2B5EF4-FFF2-40B4-BE49-F238E27FC236}">
                <a16:creationId xmlns:a16="http://schemas.microsoft.com/office/drawing/2014/main" id="{2EBA5130-C309-4930-815B-23CE73F9A189}"/>
              </a:ext>
            </a:extLst>
          </p:cNvPr>
          <p:cNvSpPr>
            <a:spLocks noGrp="1"/>
          </p:cNvSpPr>
          <p:nvPr/>
        </p:nvSpPr>
        <p:spPr>
          <a:xfrm>
            <a:off x="628650" y="6000750"/>
            <a:ext cx="1019175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650" b="1">
                <a:solidFill>
                  <a:srgbClr val="F1E3C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F1E3C4"/>
                </a:solidFill>
                <a:latin typeface="Microsoft YaHei"/>
                <a:ea typeface="Microsoft YaHei"/>
                <a:cs typeface="Microsoft YaHei"/>
              </a:rPr>
              <a:t>安全不是多说一句，而是少替用户做一次无法验证的判断。</a:t>
            </a:r>
          </a:p>
        </p:txBody>
      </p:sp>
      <p:sp>
        <p:nvSpPr>
          <p:cNvPr id="24" name="矩形 23">
            <a:extLst>
              <a:ext uri="{FF2B5EF4-FFF2-40B4-BE49-F238E27FC236}">
                <a16:creationId xmlns:a16="http://schemas.microsoft.com/office/drawing/2014/main" id="{E78952C8-8052-45F1-A616-7D7AA47B7CFE}"/>
              </a:ext>
            </a:extLst>
          </p:cNvPr>
          <p:cNvSpPr>
            <a:spLocks noGrp="1"/>
          </p:cNvSpPr>
          <p:nvPr/>
        </p:nvSpPr>
        <p:spPr>
          <a:xfrm>
            <a:off x="609600" y="6486525"/>
            <a:ext cx="10972800" cy="9525"/>
          </a:xfrm>
          <a:prstGeom prst="rect">
            <a:avLst/>
          </a:prstGeom>
          <a:solidFill>
            <a:srgbClr val="356052"/>
          </a:solidFill>
          <a:ln w="0">
            <a:noFill/>
            <a:prstDash val="solid"/>
          </a:ln>
        </p:spPr>
      </p:sp>
      <p:sp>
        <p:nvSpPr>
          <p:cNvPr id="25" name="矩形 24">
            <a:extLst>
              <a:ext uri="{FF2B5EF4-FFF2-40B4-BE49-F238E27FC236}">
                <a16:creationId xmlns:a16="http://schemas.microsoft.com/office/drawing/2014/main" id="{E19E48D2-2497-4FC7-8D30-F76C4F4144AC}"/>
              </a:ext>
            </a:extLst>
          </p:cNvPr>
          <p:cNvSpPr>
            <a:spLocks noGrp="1"/>
          </p:cNvSpPr>
          <p:nvPr/>
        </p:nvSpPr>
        <p:spPr>
          <a:xfrm>
            <a:off x="609600" y="6572250"/>
            <a:ext cx="542925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975" b="0">
                <a:solidFill>
                  <a:srgbClr val="ADC0B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ADC0B6"/>
                </a:solidFill>
                <a:latin typeface="Microsoft YaHei"/>
                <a:ea typeface="Microsoft YaHei"/>
                <a:cs typeface="Microsoft YaHei"/>
              </a:rPr>
              <a:t>不监控  ·  不诊断  ·  只同步必要信息</a:t>
            </a:r>
          </a:p>
        </p:txBody>
      </p:sp>
      <p:sp>
        <p:nvSpPr>
          <p:cNvPr id="26" name="矩形 25">
            <a:extLst>
              <a:ext uri="{FF2B5EF4-FFF2-40B4-BE49-F238E27FC236}">
                <a16:creationId xmlns:a16="http://schemas.microsoft.com/office/drawing/2014/main" id="{3775BEF6-137E-4568-B833-0F9F38CBDD44}"/>
              </a:ext>
            </a:extLst>
          </p:cNvPr>
          <p:cNvSpPr>
            <a:spLocks noGrp="1"/>
          </p:cNvSpPr>
          <p:nvPr/>
        </p:nvSpPr>
        <p:spPr>
          <a:xfrm>
            <a:off x="10668000" y="6572250"/>
            <a:ext cx="9144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r">
              <a:defRPr sz="975" b="0">
                <a:solidFill>
                  <a:srgbClr val="ADC0B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ADC0B6"/>
                </a:solidFill>
                <a:latin typeface="Microsoft YaHei"/>
                <a:ea typeface="Microsoft YaHei"/>
                <a:cs typeface="Microsoft YaHei"/>
              </a:rPr>
              <a:t>07 / 12</a:t>
            </a:r>
          </a:p>
        </p:txBody>
      </p:sp>
    </p:spTree>
    <p:extLst>
      <p:ext uri="{BB962C8B-B14F-4D97-AF65-F5344CB8AC3E}">
        <p14:creationId xmlns:p14="http://schemas.microsoft.com/office/powerpoint/2010/main" val="43282908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6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矩形 30">
            <a:extLst>
              <a:ext uri="{FF2B5EF4-FFF2-40B4-BE49-F238E27FC236}">
                <a16:creationId xmlns:a16="http://schemas.microsoft.com/office/drawing/2014/main" id="{6225F6AF-9BBF-48EC-9A18-D00B809B7FBB}"/>
              </a:ext>
            </a:extLst>
          </p:cNvPr>
          <p:cNvSpPr>
            <a:spLocks noGrp="1"/>
          </p:cNvSpPr>
          <p:nvPr/>
        </p:nvSpPr>
        <p:spPr>
          <a:xfrm>
            <a:off x="609600" y="342900"/>
            <a:ext cx="42862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200" b="1">
                <a:solidFill>
                  <a:srgbClr val="68716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68716B"/>
                </a:solidFill>
                <a:latin typeface="Microsoft YaHei"/>
                <a:ea typeface="Microsoft YaHei"/>
                <a:cs typeface="Microsoft YaHei"/>
              </a:rPr>
              <a:t>安心问候  /  技术实现</a:t>
            </a: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601FAEE1-C9FC-4AB7-9C6A-63BEE0C4D779}"/>
              </a:ext>
            </a:extLst>
          </p:cNvPr>
          <p:cNvSpPr>
            <a:spLocks noGrp="1"/>
          </p:cNvSpPr>
          <p:nvPr/>
        </p:nvSpPr>
        <p:spPr>
          <a:xfrm>
            <a:off x="11334750" y="342900"/>
            <a:ext cx="2857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r">
              <a:defRPr sz="1200" b="1">
                <a:solidFill>
                  <a:srgbClr val="68716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68716B"/>
                </a:solidFill>
                <a:latin typeface="Microsoft YaHei"/>
                <a:ea typeface="Microsoft YaHei"/>
                <a:cs typeface="Microsoft YaHei"/>
              </a:rPr>
              <a:t>08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7F462CD8-C768-4D62-BCDB-2B98EA7EF647}"/>
              </a:ext>
            </a:extLst>
          </p:cNvPr>
          <p:cNvSpPr>
            <a:spLocks noGrp="1"/>
          </p:cNvSpPr>
          <p:nvPr/>
        </p:nvSpPr>
        <p:spPr>
          <a:xfrm>
            <a:off x="609600" y="742950"/>
            <a:ext cx="9525000" cy="723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3750" b="1">
                <a:solidFill>
                  <a:srgbClr val="151A1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750" b="1">
                <a:solidFill>
                  <a:srgbClr val="151A17"/>
                </a:solidFill>
                <a:latin typeface="Microsoft YaHei"/>
                <a:ea typeface="Microsoft YaHei"/>
                <a:cs typeface="Microsoft YaHei"/>
              </a:rPr>
              <a:t>规则掌舵，AI 只做受控增强</a:t>
            </a: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989299CD-C9F9-4CB9-B812-A333568A2A5C}"/>
              </a:ext>
            </a:extLst>
          </p:cNvPr>
          <p:cNvSpPr>
            <a:spLocks noGrp="1"/>
          </p:cNvSpPr>
          <p:nvPr/>
        </p:nvSpPr>
        <p:spPr>
          <a:xfrm>
            <a:off x="628650" y="1657350"/>
            <a:ext cx="17145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425" b="1">
                <a:solidFill>
                  <a:srgbClr val="174C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174C3B"/>
                </a:solidFill>
                <a:latin typeface="Microsoft YaHei"/>
                <a:ea typeface="Microsoft YaHei"/>
                <a:cs typeface="Microsoft YaHei"/>
              </a:rPr>
              <a:t>当前可验收</a:t>
            </a: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C35B0F48-9147-4362-9E2B-55BD23D9D756}"/>
              </a:ext>
            </a:extLst>
          </p:cNvPr>
          <p:cNvSpPr>
            <a:spLocks noGrp="1"/>
          </p:cNvSpPr>
          <p:nvPr/>
        </p:nvSpPr>
        <p:spPr>
          <a:xfrm>
            <a:off x="895350" y="2743200"/>
            <a:ext cx="9525000" cy="28575"/>
          </a:xfrm>
          <a:prstGeom prst="rect">
            <a:avLst/>
          </a:prstGeom>
          <a:solidFill>
            <a:srgbClr val="CDD3CE"/>
          </a:solidFill>
          <a:ln w="0">
            <a:noFill/>
            <a:prstDash val="solid"/>
          </a:ln>
        </p:spPr>
      </p:sp>
      <p:sp>
        <p:nvSpPr>
          <p:cNvPr id="6" name="矩形: 圆角 5">
            <a:extLst>
              <a:ext uri="{FF2B5EF4-FFF2-40B4-BE49-F238E27FC236}">
                <a16:creationId xmlns:a16="http://schemas.microsoft.com/office/drawing/2014/main" id="{D7DFAB7D-3E96-42AD-871A-20E5ADC7783E}"/>
              </a:ext>
            </a:extLst>
          </p:cNvPr>
          <p:cNvSpPr>
            <a:spLocks noGrp="1"/>
          </p:cNvSpPr>
          <p:nvPr/>
        </p:nvSpPr>
        <p:spPr>
          <a:xfrm>
            <a:off x="628650" y="2247900"/>
            <a:ext cx="2190750" cy="990600"/>
          </a:xfrm>
          <a:prstGeom prst="roundRect">
            <a:avLst>
              <a:gd name="adj" fmla="val 3846"/>
            </a:avLst>
          </a:prstGeom>
          <a:solidFill>
            <a:srgbClr val="FFFFFF"/>
          </a:solidFill>
          <a:ln w="9525">
            <a:solidFill>
              <a:srgbClr val="CDD3CE"/>
            </a:solidFill>
            <a:prstDash val="solid"/>
          </a:ln>
        </p:spPr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64A99410-8E92-402F-8220-89C17E345EBE}"/>
              </a:ext>
            </a:extLst>
          </p:cNvPr>
          <p:cNvSpPr>
            <a:spLocks noGrp="1"/>
          </p:cNvSpPr>
          <p:nvPr/>
        </p:nvSpPr>
        <p:spPr>
          <a:xfrm>
            <a:off x="800100" y="2400300"/>
            <a:ext cx="18097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200" b="1">
                <a:solidFill>
                  <a:srgbClr val="68716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68716B"/>
                </a:solidFill>
                <a:latin typeface="Microsoft YaHei"/>
                <a:ea typeface="Microsoft YaHei"/>
                <a:cs typeface="Microsoft YaHei"/>
              </a:rPr>
              <a:t>输入</a:t>
            </a: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B5026721-00C2-4A76-A9F4-AC75FC5C95CD}"/>
              </a:ext>
            </a:extLst>
          </p:cNvPr>
          <p:cNvSpPr>
            <a:spLocks noGrp="1"/>
          </p:cNvSpPr>
          <p:nvPr/>
        </p:nvSpPr>
        <p:spPr>
          <a:xfrm>
            <a:off x="800100" y="2724150"/>
            <a:ext cx="184785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650" b="1">
                <a:solidFill>
                  <a:srgbClr val="151A1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151A17"/>
                </a:solidFill>
                <a:latin typeface="Microsoft YaHei"/>
                <a:ea typeface="Microsoft YaHei"/>
                <a:cs typeface="Microsoft YaHei"/>
              </a:rPr>
              <a:t>一句话 / 大按钮</a:t>
            </a:r>
          </a:p>
        </p:txBody>
      </p:sp>
      <p:sp>
        <p:nvSpPr>
          <p:cNvPr id="9" name="矩形: 圆角 8">
            <a:extLst>
              <a:ext uri="{FF2B5EF4-FFF2-40B4-BE49-F238E27FC236}">
                <a16:creationId xmlns:a16="http://schemas.microsoft.com/office/drawing/2014/main" id="{0D38146F-E3CD-4BAD-BE4E-72A2C6BD07A0}"/>
              </a:ext>
            </a:extLst>
          </p:cNvPr>
          <p:cNvSpPr>
            <a:spLocks noGrp="1"/>
          </p:cNvSpPr>
          <p:nvPr/>
        </p:nvSpPr>
        <p:spPr>
          <a:xfrm>
            <a:off x="3371850" y="2247900"/>
            <a:ext cx="2190750" cy="990600"/>
          </a:xfrm>
          <a:prstGeom prst="roundRect">
            <a:avLst>
              <a:gd name="adj" fmla="val 3846"/>
            </a:avLst>
          </a:prstGeom>
          <a:solidFill>
            <a:srgbClr val="174C3B"/>
          </a:solidFill>
          <a:ln w="9525">
            <a:solidFill>
              <a:srgbClr val="174C3B"/>
            </a:solidFill>
            <a:prstDash val="solid"/>
          </a:ln>
        </p:spPr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7D7F16FA-C149-40E5-B3E2-684495D16612}"/>
              </a:ext>
            </a:extLst>
          </p:cNvPr>
          <p:cNvSpPr>
            <a:spLocks noGrp="1"/>
          </p:cNvSpPr>
          <p:nvPr/>
        </p:nvSpPr>
        <p:spPr>
          <a:xfrm>
            <a:off x="3543300" y="2400300"/>
            <a:ext cx="18097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200" b="1">
                <a:solidFill>
                  <a:srgbClr val="DCEAE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DCEAE2"/>
                </a:solidFill>
                <a:latin typeface="Microsoft YaHei"/>
                <a:ea typeface="Microsoft YaHei"/>
                <a:cs typeface="Microsoft YaHei"/>
              </a:rPr>
              <a:t>安全门</a:t>
            </a:r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13637559-D66E-4100-8243-C0B45AF67BAA}"/>
              </a:ext>
            </a:extLst>
          </p:cNvPr>
          <p:cNvSpPr>
            <a:spLocks noGrp="1"/>
          </p:cNvSpPr>
          <p:nvPr/>
        </p:nvSpPr>
        <p:spPr>
          <a:xfrm>
            <a:off x="3543300" y="2724150"/>
            <a:ext cx="184785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6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确定性规则</a:t>
            </a:r>
          </a:p>
        </p:txBody>
      </p:sp>
      <p:sp>
        <p:nvSpPr>
          <p:cNvPr id="12" name="矩形: 圆角 11">
            <a:extLst>
              <a:ext uri="{FF2B5EF4-FFF2-40B4-BE49-F238E27FC236}">
                <a16:creationId xmlns:a16="http://schemas.microsoft.com/office/drawing/2014/main" id="{63377C61-3576-41B6-9882-DF36280A19DE}"/>
              </a:ext>
            </a:extLst>
          </p:cNvPr>
          <p:cNvSpPr>
            <a:spLocks noGrp="1"/>
          </p:cNvSpPr>
          <p:nvPr/>
        </p:nvSpPr>
        <p:spPr>
          <a:xfrm>
            <a:off x="6115050" y="2247900"/>
            <a:ext cx="2190750" cy="990600"/>
          </a:xfrm>
          <a:prstGeom prst="roundRect">
            <a:avLst>
              <a:gd name="adj" fmla="val 3846"/>
            </a:avLst>
          </a:prstGeom>
          <a:solidFill>
            <a:srgbClr val="FFFFFF"/>
          </a:solidFill>
          <a:ln w="9525">
            <a:solidFill>
              <a:srgbClr val="CDD3CE"/>
            </a:solidFill>
            <a:prstDash val="solid"/>
          </a:ln>
        </p:spPr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062F2AD8-96B3-48CB-B5FD-F9027496D3D1}"/>
              </a:ext>
            </a:extLst>
          </p:cNvPr>
          <p:cNvSpPr>
            <a:spLocks noGrp="1"/>
          </p:cNvSpPr>
          <p:nvPr/>
        </p:nvSpPr>
        <p:spPr>
          <a:xfrm>
            <a:off x="6286500" y="2400300"/>
            <a:ext cx="18097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200" b="1">
                <a:solidFill>
                  <a:srgbClr val="68716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68716B"/>
                </a:solidFill>
                <a:latin typeface="Microsoft YaHei"/>
                <a:ea typeface="Microsoft YaHei"/>
                <a:cs typeface="Microsoft YaHei"/>
              </a:rPr>
              <a:t>证据链</a:t>
            </a:r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9B4103D0-16A2-443D-BFAB-83F42C89B194}"/>
              </a:ext>
            </a:extLst>
          </p:cNvPr>
          <p:cNvSpPr>
            <a:spLocks noGrp="1"/>
          </p:cNvSpPr>
          <p:nvPr/>
        </p:nvSpPr>
        <p:spPr>
          <a:xfrm>
            <a:off x="6286500" y="2724150"/>
            <a:ext cx="184785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650" b="1">
                <a:solidFill>
                  <a:srgbClr val="151A1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151A17"/>
                </a:solidFill>
                <a:latin typeface="Microsoft YaHei"/>
                <a:ea typeface="Microsoft YaHei"/>
                <a:cs typeface="Microsoft YaHei"/>
              </a:rPr>
              <a:t>结构化回执</a:t>
            </a:r>
          </a:p>
        </p:txBody>
      </p:sp>
      <p:sp>
        <p:nvSpPr>
          <p:cNvPr id="15" name="矩形: 圆角 14">
            <a:extLst>
              <a:ext uri="{FF2B5EF4-FFF2-40B4-BE49-F238E27FC236}">
                <a16:creationId xmlns:a16="http://schemas.microsoft.com/office/drawing/2014/main" id="{41F50BF7-C965-438D-BAFE-0FD46A5D9806}"/>
              </a:ext>
            </a:extLst>
          </p:cNvPr>
          <p:cNvSpPr>
            <a:spLocks noGrp="1"/>
          </p:cNvSpPr>
          <p:nvPr/>
        </p:nvSpPr>
        <p:spPr>
          <a:xfrm>
            <a:off x="8858250" y="2247900"/>
            <a:ext cx="2190750" cy="990600"/>
          </a:xfrm>
          <a:prstGeom prst="roundRect">
            <a:avLst>
              <a:gd name="adj" fmla="val 3846"/>
            </a:avLst>
          </a:prstGeom>
          <a:solidFill>
            <a:srgbClr val="FFFFFF"/>
          </a:solidFill>
          <a:ln w="9525">
            <a:solidFill>
              <a:srgbClr val="CDD3CE"/>
            </a:solidFill>
            <a:prstDash val="solid"/>
          </a:ln>
        </p:spPr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632EE8FE-8392-4955-B41F-856EC054D94E}"/>
              </a:ext>
            </a:extLst>
          </p:cNvPr>
          <p:cNvSpPr>
            <a:spLocks noGrp="1"/>
          </p:cNvSpPr>
          <p:nvPr/>
        </p:nvSpPr>
        <p:spPr>
          <a:xfrm>
            <a:off x="9029700" y="2400300"/>
            <a:ext cx="18097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200" b="1">
                <a:solidFill>
                  <a:srgbClr val="68716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68716B"/>
                </a:solidFill>
                <a:latin typeface="Microsoft YaHei"/>
                <a:ea typeface="Microsoft YaHei"/>
                <a:cs typeface="Microsoft YaHei"/>
              </a:rPr>
              <a:t>行动</a:t>
            </a:r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E3600A12-FE6A-4993-936F-D3CAD09B560C}"/>
              </a:ext>
            </a:extLst>
          </p:cNvPr>
          <p:cNvSpPr>
            <a:spLocks noGrp="1"/>
          </p:cNvSpPr>
          <p:nvPr/>
        </p:nvSpPr>
        <p:spPr>
          <a:xfrm>
            <a:off x="9029700" y="2724150"/>
            <a:ext cx="184785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650" b="1">
                <a:solidFill>
                  <a:srgbClr val="151A1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151A17"/>
                </a:solidFill>
                <a:latin typeface="Microsoft YaHei"/>
                <a:ea typeface="Microsoft YaHei"/>
                <a:cs typeface="Microsoft YaHei"/>
              </a:rPr>
              <a:t>家属人工确认</a:t>
            </a:r>
          </a:p>
        </p:txBody>
      </p:sp>
      <p:sp>
        <p:nvSpPr>
          <p:cNvPr id="18" name="矩形 17">
            <a:extLst>
              <a:ext uri="{FF2B5EF4-FFF2-40B4-BE49-F238E27FC236}">
                <a16:creationId xmlns:a16="http://schemas.microsoft.com/office/drawing/2014/main" id="{6695E94D-A660-4CB0-BD4D-CC8A3574632D}"/>
              </a:ext>
            </a:extLst>
          </p:cNvPr>
          <p:cNvSpPr>
            <a:spLocks noGrp="1"/>
          </p:cNvSpPr>
          <p:nvPr/>
        </p:nvSpPr>
        <p:spPr>
          <a:xfrm>
            <a:off x="628650" y="3810000"/>
            <a:ext cx="30480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425" b="1">
                <a:solidFill>
                  <a:srgbClr val="68716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68716B"/>
                </a:solidFill>
                <a:latin typeface="Microsoft YaHei"/>
                <a:ea typeface="Microsoft YaHei"/>
                <a:cs typeface="Microsoft YaHei"/>
              </a:rPr>
              <a:t>规划中的 AI 增强层</a:t>
            </a:r>
          </a:p>
        </p:txBody>
      </p:sp>
      <p:sp>
        <p:nvSpPr>
          <p:cNvPr id="19" name="矩形: 圆角 18">
            <a:extLst>
              <a:ext uri="{FF2B5EF4-FFF2-40B4-BE49-F238E27FC236}">
                <a16:creationId xmlns:a16="http://schemas.microsoft.com/office/drawing/2014/main" id="{0D9A4260-B49F-48EA-9996-1DB7AD7F1167}"/>
              </a:ext>
            </a:extLst>
          </p:cNvPr>
          <p:cNvSpPr>
            <a:spLocks noGrp="1"/>
          </p:cNvSpPr>
          <p:nvPr/>
        </p:nvSpPr>
        <p:spPr>
          <a:xfrm>
            <a:off x="628650" y="4248150"/>
            <a:ext cx="10953750" cy="838200"/>
          </a:xfrm>
          <a:prstGeom prst="roundRect">
            <a:avLst>
              <a:gd name="adj" fmla="val 4545"/>
            </a:avLst>
          </a:prstGeom>
          <a:noFill/>
          <a:ln w="19050">
            <a:solidFill>
              <a:srgbClr val="98A19B"/>
            </a:solidFill>
            <a:prstDash val="dash"/>
          </a:ln>
        </p:spPr>
      </p:sp>
      <p:sp>
        <p:nvSpPr>
          <p:cNvPr id="20" name="矩形 19">
            <a:extLst>
              <a:ext uri="{FF2B5EF4-FFF2-40B4-BE49-F238E27FC236}">
                <a16:creationId xmlns:a16="http://schemas.microsoft.com/office/drawing/2014/main" id="{84B83C62-FF85-4B94-B958-B3079F9BEAEF}"/>
              </a:ext>
            </a:extLst>
          </p:cNvPr>
          <p:cNvSpPr>
            <a:spLocks noGrp="1"/>
          </p:cNvSpPr>
          <p:nvPr/>
        </p:nvSpPr>
        <p:spPr>
          <a:xfrm>
            <a:off x="990600" y="4476750"/>
            <a:ext cx="17145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800" b="1">
                <a:solidFill>
                  <a:srgbClr val="68716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68716B"/>
                </a:solidFill>
                <a:latin typeface="Microsoft YaHei"/>
                <a:ea typeface="Microsoft YaHei"/>
                <a:cs typeface="Microsoft YaHei"/>
              </a:rPr>
              <a:t>口语归一</a:t>
            </a:r>
          </a:p>
        </p:txBody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C3050E58-9EB8-46B3-9EFD-F777DC7E60E2}"/>
              </a:ext>
            </a:extLst>
          </p:cNvPr>
          <p:cNvSpPr>
            <a:spLocks noGrp="1"/>
          </p:cNvSpPr>
          <p:nvPr/>
        </p:nvSpPr>
        <p:spPr>
          <a:xfrm>
            <a:off x="2914650" y="4476750"/>
            <a:ext cx="3048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ctr">
              <a:defRPr sz="1950" b="1">
                <a:solidFill>
                  <a:srgbClr val="C58A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1">
                <a:solidFill>
                  <a:srgbClr val="C58A2B"/>
                </a:solidFill>
                <a:latin typeface="Microsoft YaHei"/>
                <a:ea typeface="Microsoft YaHei"/>
                <a:cs typeface="Microsoft YaHei"/>
              </a:rPr>
              <a:t>+</a:t>
            </a:r>
          </a:p>
        </p:txBody>
      </p:sp>
      <p:sp>
        <p:nvSpPr>
          <p:cNvPr id="22" name="矩形 21">
            <a:extLst>
              <a:ext uri="{FF2B5EF4-FFF2-40B4-BE49-F238E27FC236}">
                <a16:creationId xmlns:a16="http://schemas.microsoft.com/office/drawing/2014/main" id="{344846BE-0794-4CED-A4F9-4FE2C97BBA13}"/>
              </a:ext>
            </a:extLst>
          </p:cNvPr>
          <p:cNvSpPr>
            <a:spLocks noGrp="1"/>
          </p:cNvSpPr>
          <p:nvPr/>
        </p:nvSpPr>
        <p:spPr>
          <a:xfrm>
            <a:off x="3486150" y="4476750"/>
            <a:ext cx="17145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800" b="1">
                <a:solidFill>
                  <a:srgbClr val="68716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68716B"/>
                </a:solidFill>
                <a:latin typeface="Microsoft YaHei"/>
                <a:ea typeface="Microsoft YaHei"/>
                <a:cs typeface="Microsoft YaHei"/>
              </a:rPr>
              <a:t>事实抽取</a:t>
            </a:r>
          </a:p>
        </p:txBody>
      </p:sp>
      <p:sp>
        <p:nvSpPr>
          <p:cNvPr id="23" name="矩形 22">
            <a:extLst>
              <a:ext uri="{FF2B5EF4-FFF2-40B4-BE49-F238E27FC236}">
                <a16:creationId xmlns:a16="http://schemas.microsoft.com/office/drawing/2014/main" id="{45435B8F-ADC6-47ED-9099-1E70DB3FC955}"/>
              </a:ext>
            </a:extLst>
          </p:cNvPr>
          <p:cNvSpPr>
            <a:spLocks noGrp="1"/>
          </p:cNvSpPr>
          <p:nvPr/>
        </p:nvSpPr>
        <p:spPr>
          <a:xfrm>
            <a:off x="5410200" y="4476750"/>
            <a:ext cx="3048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ctr">
              <a:defRPr sz="1950" b="1">
                <a:solidFill>
                  <a:srgbClr val="C58A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1">
                <a:solidFill>
                  <a:srgbClr val="C58A2B"/>
                </a:solidFill>
                <a:latin typeface="Microsoft YaHei"/>
                <a:ea typeface="Microsoft YaHei"/>
                <a:cs typeface="Microsoft YaHei"/>
              </a:rPr>
              <a:t>+</a:t>
            </a:r>
          </a:p>
        </p:txBody>
      </p:sp>
      <p:sp>
        <p:nvSpPr>
          <p:cNvPr id="24" name="矩形 23">
            <a:extLst>
              <a:ext uri="{FF2B5EF4-FFF2-40B4-BE49-F238E27FC236}">
                <a16:creationId xmlns:a16="http://schemas.microsoft.com/office/drawing/2014/main" id="{054DBBE1-0455-4E1D-8BDB-75A5F7A7167C}"/>
              </a:ext>
            </a:extLst>
          </p:cNvPr>
          <p:cNvSpPr>
            <a:spLocks noGrp="1"/>
          </p:cNvSpPr>
          <p:nvPr/>
        </p:nvSpPr>
        <p:spPr>
          <a:xfrm>
            <a:off x="5981700" y="4476750"/>
            <a:ext cx="17145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800" b="1">
                <a:solidFill>
                  <a:srgbClr val="68716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68716B"/>
                </a:solidFill>
                <a:latin typeface="Microsoft YaHei"/>
                <a:ea typeface="Microsoft YaHei"/>
                <a:cs typeface="Microsoft YaHei"/>
              </a:rPr>
              <a:t>回执摘要</a:t>
            </a:r>
          </a:p>
        </p:txBody>
      </p:sp>
      <p:sp>
        <p:nvSpPr>
          <p:cNvPr id="25" name="矩形 24">
            <a:extLst>
              <a:ext uri="{FF2B5EF4-FFF2-40B4-BE49-F238E27FC236}">
                <a16:creationId xmlns:a16="http://schemas.microsoft.com/office/drawing/2014/main" id="{3B354A01-A876-4ADB-B66B-4173C77DAC57}"/>
              </a:ext>
            </a:extLst>
          </p:cNvPr>
          <p:cNvSpPr>
            <a:spLocks noGrp="1"/>
          </p:cNvSpPr>
          <p:nvPr/>
        </p:nvSpPr>
        <p:spPr>
          <a:xfrm>
            <a:off x="7981950" y="4419600"/>
            <a:ext cx="19050" cy="457200"/>
          </a:xfrm>
          <a:prstGeom prst="rect">
            <a:avLst/>
          </a:prstGeom>
          <a:solidFill>
            <a:srgbClr val="CDD3CE"/>
          </a:solidFill>
          <a:ln w="0">
            <a:noFill/>
            <a:prstDash val="solid"/>
          </a:ln>
        </p:spPr>
      </p:sp>
      <p:sp>
        <p:nvSpPr>
          <p:cNvPr id="26" name="矩形 25">
            <a:extLst>
              <a:ext uri="{FF2B5EF4-FFF2-40B4-BE49-F238E27FC236}">
                <a16:creationId xmlns:a16="http://schemas.microsoft.com/office/drawing/2014/main" id="{5F6F1D98-D0FD-40B8-B550-38CF80E5DC8F}"/>
              </a:ext>
            </a:extLst>
          </p:cNvPr>
          <p:cNvSpPr>
            <a:spLocks noGrp="1"/>
          </p:cNvSpPr>
          <p:nvPr/>
        </p:nvSpPr>
        <p:spPr>
          <a:xfrm>
            <a:off x="8324850" y="4352925"/>
            <a:ext cx="285750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500" b="1">
                <a:solidFill>
                  <a:srgbClr val="174C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174C3B"/>
                </a:solidFill>
                <a:latin typeface="Microsoft YaHei"/>
                <a:ea typeface="Microsoft YaHei"/>
                <a:cs typeface="Microsoft YaHei"/>
              </a:rPr>
              <a:t>超时 / 不合规时</a:t>
            </a:r>
          </a:p>
          <a:p>
            <a:pPr algn="l">
              <a:defRPr sz="1500" b="1">
                <a:solidFill>
                  <a:srgbClr val="174C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174C3B"/>
                </a:solidFill>
                <a:latin typeface="Microsoft YaHei"/>
                <a:ea typeface="Microsoft YaHei"/>
                <a:cs typeface="Microsoft YaHei"/>
              </a:rPr>
              <a:t>回退至规则基线</a:t>
            </a:r>
          </a:p>
        </p:txBody>
      </p:sp>
      <p:sp>
        <p:nvSpPr>
          <p:cNvPr id="27" name="矩形 26">
            <a:extLst>
              <a:ext uri="{FF2B5EF4-FFF2-40B4-BE49-F238E27FC236}">
                <a16:creationId xmlns:a16="http://schemas.microsoft.com/office/drawing/2014/main" id="{0162C7BA-681E-406C-99A4-C475D59EEF5D}"/>
              </a:ext>
            </a:extLst>
          </p:cNvPr>
          <p:cNvSpPr>
            <a:spLocks noGrp="1"/>
          </p:cNvSpPr>
          <p:nvPr/>
        </p:nvSpPr>
        <p:spPr>
          <a:xfrm>
            <a:off x="628650" y="5486400"/>
            <a:ext cx="1057275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425" b="0">
                <a:solidFill>
                  <a:srgbClr val="68716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68716B"/>
                </a:solidFill>
                <a:latin typeface="Microsoft YaHei"/>
                <a:ea typeface="Microsoft YaHei"/>
                <a:cs typeface="Microsoft YaHei"/>
              </a:rPr>
              <a:t>当前：React + TypeScript · 浏览器语音可选 · localStorage 模拟协作 · 尚未接入真实 AI 与通知</a:t>
            </a:r>
          </a:p>
        </p:txBody>
      </p:sp>
      <p:sp>
        <p:nvSpPr>
          <p:cNvPr id="28" name="矩形 27">
            <a:extLst>
              <a:ext uri="{FF2B5EF4-FFF2-40B4-BE49-F238E27FC236}">
                <a16:creationId xmlns:a16="http://schemas.microsoft.com/office/drawing/2014/main" id="{E7B8E7B1-FA17-4570-A314-EDAC46761F2D}"/>
              </a:ext>
            </a:extLst>
          </p:cNvPr>
          <p:cNvSpPr>
            <a:spLocks noGrp="1"/>
          </p:cNvSpPr>
          <p:nvPr/>
        </p:nvSpPr>
        <p:spPr>
          <a:xfrm>
            <a:off x="609600" y="6486525"/>
            <a:ext cx="10972800" cy="9525"/>
          </a:xfrm>
          <a:prstGeom prst="rect">
            <a:avLst/>
          </a:prstGeom>
          <a:solidFill>
            <a:srgbClr val="CDD3CE"/>
          </a:solidFill>
          <a:ln w="0">
            <a:noFill/>
            <a:prstDash val="solid"/>
          </a:ln>
        </p:spPr>
      </p:sp>
      <p:sp>
        <p:nvSpPr>
          <p:cNvPr id="29" name="矩形 28">
            <a:extLst>
              <a:ext uri="{FF2B5EF4-FFF2-40B4-BE49-F238E27FC236}">
                <a16:creationId xmlns:a16="http://schemas.microsoft.com/office/drawing/2014/main" id="{7D1F5CB6-EEB7-409B-97B6-B008B3646785}"/>
              </a:ext>
            </a:extLst>
          </p:cNvPr>
          <p:cNvSpPr>
            <a:spLocks noGrp="1"/>
          </p:cNvSpPr>
          <p:nvPr/>
        </p:nvSpPr>
        <p:spPr>
          <a:xfrm>
            <a:off x="609600" y="6572250"/>
            <a:ext cx="542925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975" b="0">
                <a:solidFill>
                  <a:srgbClr val="68716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68716B"/>
                </a:solidFill>
                <a:latin typeface="Microsoft YaHei"/>
                <a:ea typeface="Microsoft YaHei"/>
                <a:cs typeface="Microsoft YaHei"/>
              </a:rPr>
              <a:t>不监控  ·  不诊断  ·  只同步必要信息</a:t>
            </a:r>
          </a:p>
        </p:txBody>
      </p:sp>
      <p:sp>
        <p:nvSpPr>
          <p:cNvPr id="30" name="矩形 29">
            <a:extLst>
              <a:ext uri="{FF2B5EF4-FFF2-40B4-BE49-F238E27FC236}">
                <a16:creationId xmlns:a16="http://schemas.microsoft.com/office/drawing/2014/main" id="{7640182F-DB81-4E42-BCC6-DEF272818836}"/>
              </a:ext>
            </a:extLst>
          </p:cNvPr>
          <p:cNvSpPr>
            <a:spLocks noGrp="1"/>
          </p:cNvSpPr>
          <p:nvPr/>
        </p:nvSpPr>
        <p:spPr>
          <a:xfrm>
            <a:off x="10668000" y="6572250"/>
            <a:ext cx="9144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r">
              <a:defRPr sz="975" b="0">
                <a:solidFill>
                  <a:srgbClr val="68716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68716B"/>
                </a:solidFill>
                <a:latin typeface="Microsoft YaHei"/>
                <a:ea typeface="Microsoft YaHei"/>
                <a:cs typeface="Microsoft YaHei"/>
              </a:rPr>
              <a:t>08 / 12</a:t>
            </a:r>
          </a:p>
        </p:txBody>
      </p:sp>
    </p:spTree>
    <p:extLst>
      <p:ext uri="{BB962C8B-B14F-4D97-AF65-F5344CB8AC3E}">
        <p14:creationId xmlns:p14="http://schemas.microsoft.com/office/powerpoint/2010/main" val="40403145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矩形 34">
            <a:extLst>
              <a:ext uri="{FF2B5EF4-FFF2-40B4-BE49-F238E27FC236}">
                <a16:creationId xmlns:a16="http://schemas.microsoft.com/office/drawing/2014/main" id="{A231FAD9-FEC0-4BBC-85FF-3D6E5242C47A}"/>
              </a:ext>
            </a:extLst>
          </p:cNvPr>
          <p:cNvSpPr>
            <a:spLocks noGrp="1"/>
          </p:cNvSpPr>
          <p:nvPr/>
        </p:nvSpPr>
        <p:spPr>
          <a:xfrm>
            <a:off x="609600" y="342900"/>
            <a:ext cx="42862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200" b="1">
                <a:solidFill>
                  <a:srgbClr val="68716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68716B"/>
                </a:solidFill>
                <a:latin typeface="Microsoft YaHei"/>
                <a:ea typeface="Microsoft YaHei"/>
                <a:cs typeface="Microsoft YaHei"/>
              </a:rPr>
              <a:t>安心问候  /  赛题匹配</a:t>
            </a: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1CEF181A-42E7-446E-B6C2-7D59B747C9A5}"/>
              </a:ext>
            </a:extLst>
          </p:cNvPr>
          <p:cNvSpPr>
            <a:spLocks noGrp="1"/>
          </p:cNvSpPr>
          <p:nvPr/>
        </p:nvSpPr>
        <p:spPr>
          <a:xfrm>
            <a:off x="11334750" y="342900"/>
            <a:ext cx="2857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r">
              <a:defRPr sz="1200" b="1">
                <a:solidFill>
                  <a:srgbClr val="68716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68716B"/>
                </a:solidFill>
                <a:latin typeface="Microsoft YaHei"/>
                <a:ea typeface="Microsoft YaHei"/>
                <a:cs typeface="Microsoft YaHei"/>
              </a:rPr>
              <a:t>09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3F5FD5E0-503E-482C-B30C-04CEBD3A97CC}"/>
              </a:ext>
            </a:extLst>
          </p:cNvPr>
          <p:cNvSpPr>
            <a:spLocks noGrp="1"/>
          </p:cNvSpPr>
          <p:nvPr/>
        </p:nvSpPr>
        <p:spPr>
          <a:xfrm>
            <a:off x="609600" y="742950"/>
            <a:ext cx="9810750" cy="723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3750" b="1">
                <a:solidFill>
                  <a:srgbClr val="151A1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750" b="1">
                <a:solidFill>
                  <a:srgbClr val="151A17"/>
                </a:solidFill>
                <a:latin typeface="Microsoft YaHei"/>
                <a:ea typeface="Microsoft YaHei"/>
                <a:cs typeface="Microsoft YaHei"/>
              </a:rPr>
              <a:t>一个强闭环，正面对齐四项评分</a:t>
            </a: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9278F79D-D8B4-4D06-A224-CEE664E94787}"/>
              </a:ext>
            </a:extLst>
          </p:cNvPr>
          <p:cNvSpPr>
            <a:spLocks noGrp="1"/>
          </p:cNvSpPr>
          <p:nvPr/>
        </p:nvSpPr>
        <p:spPr>
          <a:xfrm>
            <a:off x="609600" y="1752600"/>
            <a:ext cx="3295650" cy="647700"/>
          </a:xfrm>
          <a:prstGeom prst="rect">
            <a:avLst/>
          </a:prstGeom>
          <a:solidFill>
            <a:srgbClr val="174C3B"/>
          </a:solidFill>
          <a:ln w="0">
            <a:noFill/>
            <a:prstDash val="solid"/>
          </a:ln>
        </p:spPr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4F3D82C7-86E0-4487-843C-77A8C5E061BD}"/>
              </a:ext>
            </a:extLst>
          </p:cNvPr>
          <p:cNvSpPr>
            <a:spLocks noGrp="1"/>
          </p:cNvSpPr>
          <p:nvPr/>
        </p:nvSpPr>
        <p:spPr>
          <a:xfrm>
            <a:off x="781050" y="1847850"/>
            <a:ext cx="55245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23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30</a:t>
            </a: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65FFA802-E415-4B1B-9FB8-63D7B838BB80}"/>
              </a:ext>
            </a:extLst>
          </p:cNvPr>
          <p:cNvSpPr>
            <a:spLocks noGrp="1"/>
          </p:cNvSpPr>
          <p:nvPr/>
        </p:nvSpPr>
        <p:spPr>
          <a:xfrm>
            <a:off x="1390650" y="1924050"/>
            <a:ext cx="238125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5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公益价值</a:t>
            </a: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5B5AC9F7-573B-4663-BD09-869E5A474A01}"/>
              </a:ext>
            </a:extLst>
          </p:cNvPr>
          <p:cNvSpPr>
            <a:spLocks noGrp="1"/>
          </p:cNvSpPr>
          <p:nvPr/>
        </p:nvSpPr>
        <p:spPr>
          <a:xfrm>
            <a:off x="3905250" y="1752600"/>
            <a:ext cx="3295650" cy="647700"/>
          </a:xfrm>
          <a:prstGeom prst="rect">
            <a:avLst/>
          </a:prstGeom>
          <a:solidFill>
            <a:srgbClr val="3F7183"/>
          </a:solidFill>
          <a:ln w="0">
            <a:noFill/>
            <a:prstDash val="solid"/>
          </a:ln>
        </p:spPr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395EE711-B455-438B-99D3-8DD348250FEC}"/>
              </a:ext>
            </a:extLst>
          </p:cNvPr>
          <p:cNvSpPr>
            <a:spLocks noGrp="1"/>
          </p:cNvSpPr>
          <p:nvPr/>
        </p:nvSpPr>
        <p:spPr>
          <a:xfrm>
            <a:off x="4076700" y="1847850"/>
            <a:ext cx="55245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23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30</a:t>
            </a: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FBA8E0E8-06D2-4316-B3AC-539C7426062E}"/>
              </a:ext>
            </a:extLst>
          </p:cNvPr>
          <p:cNvSpPr>
            <a:spLocks noGrp="1"/>
          </p:cNvSpPr>
          <p:nvPr/>
        </p:nvSpPr>
        <p:spPr>
          <a:xfrm>
            <a:off x="4686300" y="1924050"/>
            <a:ext cx="238125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5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技术实现</a:t>
            </a: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635D0AEB-86D0-480F-BD25-F69DE1FE36AE}"/>
              </a:ext>
            </a:extLst>
          </p:cNvPr>
          <p:cNvSpPr>
            <a:spLocks noGrp="1"/>
          </p:cNvSpPr>
          <p:nvPr/>
        </p:nvSpPr>
        <p:spPr>
          <a:xfrm>
            <a:off x="7200900" y="1752600"/>
            <a:ext cx="2743200" cy="647700"/>
          </a:xfrm>
          <a:prstGeom prst="rect">
            <a:avLst/>
          </a:prstGeom>
          <a:solidFill>
            <a:srgbClr val="C58A2B"/>
          </a:solidFill>
          <a:ln w="0">
            <a:noFill/>
            <a:prstDash val="solid"/>
          </a:ln>
        </p:spPr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DA1860A1-4E8F-43E8-9E77-FED528E4FDDC}"/>
              </a:ext>
            </a:extLst>
          </p:cNvPr>
          <p:cNvSpPr>
            <a:spLocks noGrp="1"/>
          </p:cNvSpPr>
          <p:nvPr/>
        </p:nvSpPr>
        <p:spPr>
          <a:xfrm>
            <a:off x="7372350" y="1847850"/>
            <a:ext cx="55245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23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25</a:t>
            </a: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2BEE3B96-A43F-455A-B9FD-56A3DCCA6295}"/>
              </a:ext>
            </a:extLst>
          </p:cNvPr>
          <p:cNvSpPr>
            <a:spLocks noGrp="1"/>
          </p:cNvSpPr>
          <p:nvPr/>
        </p:nvSpPr>
        <p:spPr>
          <a:xfrm>
            <a:off x="7981950" y="1924050"/>
            <a:ext cx="182880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5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用户友好性</a:t>
            </a: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2F0C904A-4160-46FF-BCC5-ABD52F56517F}"/>
              </a:ext>
            </a:extLst>
          </p:cNvPr>
          <p:cNvSpPr>
            <a:spLocks noGrp="1"/>
          </p:cNvSpPr>
          <p:nvPr/>
        </p:nvSpPr>
        <p:spPr>
          <a:xfrm>
            <a:off x="9944100" y="1752600"/>
            <a:ext cx="1647825" cy="647700"/>
          </a:xfrm>
          <a:prstGeom prst="rect">
            <a:avLst/>
          </a:prstGeom>
          <a:solidFill>
            <a:srgbClr val="B83A31"/>
          </a:solidFill>
          <a:ln w="0">
            <a:noFill/>
            <a:prstDash val="solid"/>
          </a:ln>
        </p:spPr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06A7D5D4-B867-4548-879E-214D952B3ADB}"/>
              </a:ext>
            </a:extLst>
          </p:cNvPr>
          <p:cNvSpPr>
            <a:spLocks noGrp="1"/>
          </p:cNvSpPr>
          <p:nvPr/>
        </p:nvSpPr>
        <p:spPr>
          <a:xfrm>
            <a:off x="10115550" y="1847850"/>
            <a:ext cx="55245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23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15</a:t>
            </a:r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D62E375B-8D41-4DD3-997F-819C913DC4FB}"/>
              </a:ext>
            </a:extLst>
          </p:cNvPr>
          <p:cNvSpPr>
            <a:spLocks noGrp="1"/>
          </p:cNvSpPr>
          <p:nvPr/>
        </p:nvSpPr>
        <p:spPr>
          <a:xfrm>
            <a:off x="10725150" y="1924050"/>
            <a:ext cx="733425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 fontScale="96212"/>
          </a:bodyPr>
          <a:lstStyle/>
          <a:p>
            <a:pPr algn="l">
              <a:defRPr sz="15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创新价值</a:t>
            </a:r>
          </a:p>
        </p:txBody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08DB9C11-5EF0-41AB-8D38-5EC97E09F570}"/>
              </a:ext>
            </a:extLst>
          </p:cNvPr>
          <p:cNvSpPr>
            <a:spLocks noGrp="1"/>
          </p:cNvSpPr>
          <p:nvPr/>
        </p:nvSpPr>
        <p:spPr>
          <a:xfrm>
            <a:off x="609600" y="2914650"/>
            <a:ext cx="723900" cy="38100"/>
          </a:xfrm>
          <a:prstGeom prst="rect">
            <a:avLst/>
          </a:prstGeom>
          <a:solidFill>
            <a:srgbClr val="174C3B"/>
          </a:solidFill>
          <a:ln w="0">
            <a:noFill/>
            <a:prstDash val="solid"/>
          </a:ln>
        </p:spPr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0B44F6AD-720E-4E7B-89A6-CC7C3C9297BB}"/>
              </a:ext>
            </a:extLst>
          </p:cNvPr>
          <p:cNvSpPr>
            <a:spLocks noGrp="1"/>
          </p:cNvSpPr>
          <p:nvPr/>
        </p:nvSpPr>
        <p:spPr>
          <a:xfrm>
            <a:off x="609600" y="3143250"/>
            <a:ext cx="226695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800" b="1">
                <a:solidFill>
                  <a:srgbClr val="151A1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151A17"/>
                </a:solidFill>
                <a:latin typeface="Microsoft YaHei"/>
                <a:ea typeface="Microsoft YaHei"/>
                <a:cs typeface="Microsoft YaHei"/>
              </a:rPr>
              <a:t>公益价值</a:t>
            </a:r>
          </a:p>
        </p:txBody>
      </p:sp>
      <p:sp>
        <p:nvSpPr>
          <p:cNvPr id="18" name="矩形 17">
            <a:extLst>
              <a:ext uri="{FF2B5EF4-FFF2-40B4-BE49-F238E27FC236}">
                <a16:creationId xmlns:a16="http://schemas.microsoft.com/office/drawing/2014/main" id="{AE4FD5D0-7276-49B8-A8F4-21C0C3455C6D}"/>
              </a:ext>
            </a:extLst>
          </p:cNvPr>
          <p:cNvSpPr>
            <a:spLocks noGrp="1"/>
          </p:cNvSpPr>
          <p:nvPr/>
        </p:nvSpPr>
        <p:spPr>
          <a:xfrm>
            <a:off x="609600" y="3638550"/>
            <a:ext cx="2266950" cy="1695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650" b="0">
                <a:solidFill>
                  <a:srgbClr val="68716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68716B"/>
                </a:solidFill>
                <a:latin typeface="Microsoft YaHei"/>
                <a:ea typeface="Microsoft YaHei"/>
                <a:cs typeface="Microsoft YaHei"/>
              </a:rPr>
              <a:t>异地照护少一层空白</a:t>
            </a:r>
          </a:p>
          <a:p>
            <a:pPr algn="l">
              <a:defRPr sz="1650" b="0">
                <a:solidFill>
                  <a:srgbClr val="68716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68716B"/>
                </a:solidFill>
                <a:latin typeface="Microsoft YaHei"/>
                <a:ea typeface="Microsoft YaHei"/>
                <a:cs typeface="Microsoft YaHei"/>
              </a:rPr>
              <a:t>不靠持续监控换安心。</a:t>
            </a:r>
          </a:p>
        </p:txBody>
      </p:sp>
      <p:sp>
        <p:nvSpPr>
          <p:cNvPr id="19" name="矩形 18">
            <a:extLst>
              <a:ext uri="{FF2B5EF4-FFF2-40B4-BE49-F238E27FC236}">
                <a16:creationId xmlns:a16="http://schemas.microsoft.com/office/drawing/2014/main" id="{52F68798-A220-4AF3-9C68-7D66DA9337F9}"/>
              </a:ext>
            </a:extLst>
          </p:cNvPr>
          <p:cNvSpPr>
            <a:spLocks noGrp="1"/>
          </p:cNvSpPr>
          <p:nvPr/>
        </p:nvSpPr>
        <p:spPr>
          <a:xfrm>
            <a:off x="3105150" y="2914650"/>
            <a:ext cx="9525" cy="2571750"/>
          </a:xfrm>
          <a:prstGeom prst="rect">
            <a:avLst/>
          </a:prstGeom>
          <a:solidFill>
            <a:srgbClr val="CDD3CE"/>
          </a:solidFill>
          <a:ln w="0">
            <a:noFill/>
            <a:prstDash val="solid"/>
          </a:ln>
        </p:spPr>
      </p:sp>
      <p:sp>
        <p:nvSpPr>
          <p:cNvPr id="20" name="矩形 19">
            <a:extLst>
              <a:ext uri="{FF2B5EF4-FFF2-40B4-BE49-F238E27FC236}">
                <a16:creationId xmlns:a16="http://schemas.microsoft.com/office/drawing/2014/main" id="{865DCE80-ABC3-430F-84FC-BE0630D576BA}"/>
              </a:ext>
            </a:extLst>
          </p:cNvPr>
          <p:cNvSpPr>
            <a:spLocks noGrp="1"/>
          </p:cNvSpPr>
          <p:nvPr/>
        </p:nvSpPr>
        <p:spPr>
          <a:xfrm>
            <a:off x="3352800" y="2914650"/>
            <a:ext cx="723900" cy="38100"/>
          </a:xfrm>
          <a:prstGeom prst="rect">
            <a:avLst/>
          </a:prstGeom>
          <a:solidFill>
            <a:srgbClr val="3F7183"/>
          </a:solidFill>
          <a:ln w="0">
            <a:noFill/>
            <a:prstDash val="solid"/>
          </a:ln>
        </p:spPr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A2B3ED4C-1BDE-43D9-B83C-0616D670B47B}"/>
              </a:ext>
            </a:extLst>
          </p:cNvPr>
          <p:cNvSpPr>
            <a:spLocks noGrp="1"/>
          </p:cNvSpPr>
          <p:nvPr/>
        </p:nvSpPr>
        <p:spPr>
          <a:xfrm>
            <a:off x="3352800" y="3143250"/>
            <a:ext cx="226695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800" b="1">
                <a:solidFill>
                  <a:srgbClr val="151A1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151A17"/>
                </a:solidFill>
                <a:latin typeface="Microsoft YaHei"/>
                <a:ea typeface="Microsoft YaHei"/>
                <a:cs typeface="Microsoft YaHei"/>
              </a:rPr>
              <a:t>技术实现</a:t>
            </a:r>
          </a:p>
        </p:txBody>
      </p:sp>
      <p:sp>
        <p:nvSpPr>
          <p:cNvPr id="22" name="矩形 21">
            <a:extLst>
              <a:ext uri="{FF2B5EF4-FFF2-40B4-BE49-F238E27FC236}">
                <a16:creationId xmlns:a16="http://schemas.microsoft.com/office/drawing/2014/main" id="{3C1BC947-CDA2-494D-962F-EBC23CE81868}"/>
              </a:ext>
            </a:extLst>
          </p:cNvPr>
          <p:cNvSpPr>
            <a:spLocks noGrp="1"/>
          </p:cNvSpPr>
          <p:nvPr/>
        </p:nvSpPr>
        <p:spPr>
          <a:xfrm>
            <a:off x="3352800" y="3638550"/>
            <a:ext cx="2266950" cy="1695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650" b="0">
                <a:solidFill>
                  <a:srgbClr val="68716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68716B"/>
                </a:solidFill>
                <a:latin typeface="Microsoft YaHei"/>
                <a:ea typeface="Microsoft YaHei"/>
                <a:cs typeface="Microsoft YaHei"/>
              </a:rPr>
              <a:t>规则可测、结构化输出</a:t>
            </a:r>
          </a:p>
          <a:p>
            <a:pPr algn="l">
              <a:defRPr sz="1650" b="0">
                <a:solidFill>
                  <a:srgbClr val="68716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68716B"/>
                </a:solidFill>
                <a:latin typeface="Microsoft YaHei"/>
                <a:ea typeface="Microsoft YaHei"/>
                <a:cs typeface="Microsoft YaHei"/>
              </a:rPr>
              <a:t>五个场景可复现</a:t>
            </a:r>
          </a:p>
          <a:p>
            <a:pPr algn="l">
              <a:defRPr sz="1650" b="0">
                <a:solidFill>
                  <a:srgbClr val="68716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68716B"/>
                </a:solidFill>
                <a:latin typeface="Microsoft YaHei"/>
                <a:ea typeface="Microsoft YaHei"/>
                <a:cs typeface="Microsoft YaHei"/>
              </a:rPr>
              <a:t>边界可审计。</a:t>
            </a:r>
          </a:p>
        </p:txBody>
      </p:sp>
      <p:sp>
        <p:nvSpPr>
          <p:cNvPr id="23" name="矩形 22">
            <a:extLst>
              <a:ext uri="{FF2B5EF4-FFF2-40B4-BE49-F238E27FC236}">
                <a16:creationId xmlns:a16="http://schemas.microsoft.com/office/drawing/2014/main" id="{1096A0F1-B90A-4FCD-8C55-2D5C568CCB48}"/>
              </a:ext>
            </a:extLst>
          </p:cNvPr>
          <p:cNvSpPr>
            <a:spLocks noGrp="1"/>
          </p:cNvSpPr>
          <p:nvPr/>
        </p:nvSpPr>
        <p:spPr>
          <a:xfrm>
            <a:off x="5848350" y="2914650"/>
            <a:ext cx="9525" cy="2571750"/>
          </a:xfrm>
          <a:prstGeom prst="rect">
            <a:avLst/>
          </a:prstGeom>
          <a:solidFill>
            <a:srgbClr val="CDD3CE"/>
          </a:solidFill>
          <a:ln w="0">
            <a:noFill/>
            <a:prstDash val="solid"/>
          </a:ln>
        </p:spPr>
      </p:sp>
      <p:sp>
        <p:nvSpPr>
          <p:cNvPr id="24" name="矩形 23">
            <a:extLst>
              <a:ext uri="{FF2B5EF4-FFF2-40B4-BE49-F238E27FC236}">
                <a16:creationId xmlns:a16="http://schemas.microsoft.com/office/drawing/2014/main" id="{B1E4D3BD-1951-46D3-8870-D277A5462377}"/>
              </a:ext>
            </a:extLst>
          </p:cNvPr>
          <p:cNvSpPr>
            <a:spLocks noGrp="1"/>
          </p:cNvSpPr>
          <p:nvPr/>
        </p:nvSpPr>
        <p:spPr>
          <a:xfrm>
            <a:off x="6096000" y="2914650"/>
            <a:ext cx="723900" cy="38100"/>
          </a:xfrm>
          <a:prstGeom prst="rect">
            <a:avLst/>
          </a:prstGeom>
          <a:solidFill>
            <a:srgbClr val="C58A2B"/>
          </a:solidFill>
          <a:ln w="0">
            <a:noFill/>
            <a:prstDash val="solid"/>
          </a:ln>
        </p:spPr>
      </p:sp>
      <p:sp>
        <p:nvSpPr>
          <p:cNvPr id="25" name="矩形 24">
            <a:extLst>
              <a:ext uri="{FF2B5EF4-FFF2-40B4-BE49-F238E27FC236}">
                <a16:creationId xmlns:a16="http://schemas.microsoft.com/office/drawing/2014/main" id="{51E859FE-1F2B-4153-B544-9E02B50D5BDA}"/>
              </a:ext>
            </a:extLst>
          </p:cNvPr>
          <p:cNvSpPr>
            <a:spLocks noGrp="1"/>
          </p:cNvSpPr>
          <p:nvPr/>
        </p:nvSpPr>
        <p:spPr>
          <a:xfrm>
            <a:off x="6096000" y="3143250"/>
            <a:ext cx="226695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800" b="1">
                <a:solidFill>
                  <a:srgbClr val="151A1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151A17"/>
                </a:solidFill>
                <a:latin typeface="Microsoft YaHei"/>
                <a:ea typeface="Microsoft YaHei"/>
                <a:cs typeface="Microsoft YaHei"/>
              </a:rPr>
              <a:t>用户友好</a:t>
            </a:r>
          </a:p>
        </p:txBody>
      </p:sp>
      <p:sp>
        <p:nvSpPr>
          <p:cNvPr id="26" name="矩形 25">
            <a:extLst>
              <a:ext uri="{FF2B5EF4-FFF2-40B4-BE49-F238E27FC236}">
                <a16:creationId xmlns:a16="http://schemas.microsoft.com/office/drawing/2014/main" id="{9E531B47-AEA2-4ABE-953F-106092D57F44}"/>
              </a:ext>
            </a:extLst>
          </p:cNvPr>
          <p:cNvSpPr>
            <a:spLocks noGrp="1"/>
          </p:cNvSpPr>
          <p:nvPr/>
        </p:nvSpPr>
        <p:spPr>
          <a:xfrm>
            <a:off x="6096000" y="3638550"/>
            <a:ext cx="2266950" cy="1695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650" b="0">
                <a:solidFill>
                  <a:srgbClr val="68716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68716B"/>
                </a:solidFill>
                <a:latin typeface="Microsoft YaHei"/>
                <a:ea typeface="Microsoft YaHei"/>
                <a:cs typeface="Microsoft YaHei"/>
              </a:rPr>
              <a:t>老人只说一句或点一下</a:t>
            </a:r>
          </a:p>
          <a:p>
            <a:pPr algn="l">
              <a:defRPr sz="1650" b="0">
                <a:solidFill>
                  <a:srgbClr val="68716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68716B"/>
                </a:solidFill>
                <a:latin typeface="Microsoft YaHei"/>
                <a:ea typeface="Microsoft YaHei"/>
                <a:cs typeface="Microsoft YaHei"/>
              </a:rPr>
              <a:t>家属一屏读懂状态</a:t>
            </a:r>
          </a:p>
          <a:p>
            <a:pPr algn="l">
              <a:defRPr sz="1650" b="0">
                <a:solidFill>
                  <a:srgbClr val="68716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68716B"/>
                </a:solidFill>
                <a:latin typeface="Microsoft YaHei"/>
                <a:ea typeface="Microsoft YaHei"/>
                <a:cs typeface="Microsoft YaHei"/>
              </a:rPr>
              <a:t>依据与下一步。</a:t>
            </a:r>
          </a:p>
        </p:txBody>
      </p:sp>
      <p:sp>
        <p:nvSpPr>
          <p:cNvPr id="27" name="矩形 26">
            <a:extLst>
              <a:ext uri="{FF2B5EF4-FFF2-40B4-BE49-F238E27FC236}">
                <a16:creationId xmlns:a16="http://schemas.microsoft.com/office/drawing/2014/main" id="{EC347790-3C84-4795-8596-CFC41BB3E501}"/>
              </a:ext>
            </a:extLst>
          </p:cNvPr>
          <p:cNvSpPr>
            <a:spLocks noGrp="1"/>
          </p:cNvSpPr>
          <p:nvPr/>
        </p:nvSpPr>
        <p:spPr>
          <a:xfrm>
            <a:off x="8591550" y="2914650"/>
            <a:ext cx="9525" cy="2571750"/>
          </a:xfrm>
          <a:prstGeom prst="rect">
            <a:avLst/>
          </a:prstGeom>
          <a:solidFill>
            <a:srgbClr val="CDD3CE"/>
          </a:solidFill>
          <a:ln w="0">
            <a:noFill/>
            <a:prstDash val="solid"/>
          </a:ln>
        </p:spPr>
      </p:sp>
      <p:sp>
        <p:nvSpPr>
          <p:cNvPr id="28" name="矩形 27">
            <a:extLst>
              <a:ext uri="{FF2B5EF4-FFF2-40B4-BE49-F238E27FC236}">
                <a16:creationId xmlns:a16="http://schemas.microsoft.com/office/drawing/2014/main" id="{D830E314-4C76-4F84-A37C-06C67C237ABF}"/>
              </a:ext>
            </a:extLst>
          </p:cNvPr>
          <p:cNvSpPr>
            <a:spLocks noGrp="1"/>
          </p:cNvSpPr>
          <p:nvPr/>
        </p:nvSpPr>
        <p:spPr>
          <a:xfrm>
            <a:off x="8839200" y="2914650"/>
            <a:ext cx="723900" cy="38100"/>
          </a:xfrm>
          <a:prstGeom prst="rect">
            <a:avLst/>
          </a:prstGeom>
          <a:solidFill>
            <a:srgbClr val="B83A31"/>
          </a:solidFill>
          <a:ln w="0">
            <a:noFill/>
            <a:prstDash val="solid"/>
          </a:ln>
        </p:spPr>
      </p:sp>
      <p:sp>
        <p:nvSpPr>
          <p:cNvPr id="29" name="矩形 28">
            <a:extLst>
              <a:ext uri="{FF2B5EF4-FFF2-40B4-BE49-F238E27FC236}">
                <a16:creationId xmlns:a16="http://schemas.microsoft.com/office/drawing/2014/main" id="{F356FA47-C493-4437-8D84-6C1907C201C1}"/>
              </a:ext>
            </a:extLst>
          </p:cNvPr>
          <p:cNvSpPr>
            <a:spLocks noGrp="1"/>
          </p:cNvSpPr>
          <p:nvPr/>
        </p:nvSpPr>
        <p:spPr>
          <a:xfrm>
            <a:off x="8839200" y="3143250"/>
            <a:ext cx="226695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800" b="1">
                <a:solidFill>
                  <a:srgbClr val="151A1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151A17"/>
                </a:solidFill>
                <a:latin typeface="Microsoft YaHei"/>
                <a:ea typeface="Microsoft YaHei"/>
                <a:cs typeface="Microsoft YaHei"/>
              </a:rPr>
              <a:t>创新价值</a:t>
            </a:r>
          </a:p>
        </p:txBody>
      </p:sp>
      <p:sp>
        <p:nvSpPr>
          <p:cNvPr id="30" name="矩形 29">
            <a:extLst>
              <a:ext uri="{FF2B5EF4-FFF2-40B4-BE49-F238E27FC236}">
                <a16:creationId xmlns:a16="http://schemas.microsoft.com/office/drawing/2014/main" id="{39D8AFC1-D4FD-47D1-9DE6-52DA46F30619}"/>
              </a:ext>
            </a:extLst>
          </p:cNvPr>
          <p:cNvSpPr>
            <a:spLocks noGrp="1"/>
          </p:cNvSpPr>
          <p:nvPr/>
        </p:nvSpPr>
        <p:spPr>
          <a:xfrm>
            <a:off x="8839200" y="3638550"/>
            <a:ext cx="2266950" cy="1695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650" b="0">
                <a:solidFill>
                  <a:srgbClr val="68716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68716B"/>
                </a:solidFill>
                <a:latin typeface="Microsoft YaHei"/>
                <a:ea typeface="Microsoft YaHei"/>
                <a:cs typeface="Microsoft YaHei"/>
              </a:rPr>
              <a:t>把原话交给家属复核</a:t>
            </a:r>
          </a:p>
          <a:p>
            <a:pPr algn="l">
              <a:defRPr sz="1650" b="0">
                <a:solidFill>
                  <a:srgbClr val="68716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68716B"/>
                </a:solidFill>
                <a:latin typeface="Microsoft YaHei"/>
                <a:ea typeface="Microsoft YaHei"/>
                <a:cs typeface="Microsoft YaHei"/>
              </a:rPr>
              <a:t>形成家庭沟通回执。</a:t>
            </a:r>
          </a:p>
        </p:txBody>
      </p:sp>
      <p:sp>
        <p:nvSpPr>
          <p:cNvPr id="31" name="矩形 30">
            <a:extLst>
              <a:ext uri="{FF2B5EF4-FFF2-40B4-BE49-F238E27FC236}">
                <a16:creationId xmlns:a16="http://schemas.microsoft.com/office/drawing/2014/main" id="{E9510CC2-B9E1-4CB8-8E5A-909BA1DCAE02}"/>
              </a:ext>
            </a:extLst>
          </p:cNvPr>
          <p:cNvSpPr>
            <a:spLocks noGrp="1"/>
          </p:cNvSpPr>
          <p:nvPr/>
        </p:nvSpPr>
        <p:spPr>
          <a:xfrm>
            <a:off x="609600" y="5772150"/>
            <a:ext cx="1066800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650" b="1">
                <a:solidFill>
                  <a:srgbClr val="174C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174C3B"/>
                </a:solidFill>
                <a:latin typeface="Microsoft YaHei"/>
                <a:ea typeface="Microsoft YaHei"/>
                <a:cs typeface="Microsoft YaHei"/>
              </a:rPr>
              <a:t>参赛策略：不拼功能数量，用一条完整且安全的闭环拿到综合分。</a:t>
            </a:r>
          </a:p>
        </p:txBody>
      </p:sp>
      <p:sp>
        <p:nvSpPr>
          <p:cNvPr id="32" name="矩形 31">
            <a:extLst>
              <a:ext uri="{FF2B5EF4-FFF2-40B4-BE49-F238E27FC236}">
                <a16:creationId xmlns:a16="http://schemas.microsoft.com/office/drawing/2014/main" id="{E52A2D32-B063-4B9A-AEFA-8F82E4F99C98}"/>
              </a:ext>
            </a:extLst>
          </p:cNvPr>
          <p:cNvSpPr>
            <a:spLocks noGrp="1"/>
          </p:cNvSpPr>
          <p:nvPr/>
        </p:nvSpPr>
        <p:spPr>
          <a:xfrm>
            <a:off x="609600" y="6486525"/>
            <a:ext cx="10972800" cy="9525"/>
          </a:xfrm>
          <a:prstGeom prst="rect">
            <a:avLst/>
          </a:prstGeom>
          <a:solidFill>
            <a:srgbClr val="CDD3CE"/>
          </a:solidFill>
          <a:ln w="0">
            <a:noFill/>
            <a:prstDash val="solid"/>
          </a:ln>
        </p:spPr>
      </p:sp>
      <p:sp>
        <p:nvSpPr>
          <p:cNvPr id="33" name="矩形 32">
            <a:extLst>
              <a:ext uri="{FF2B5EF4-FFF2-40B4-BE49-F238E27FC236}">
                <a16:creationId xmlns:a16="http://schemas.microsoft.com/office/drawing/2014/main" id="{E7D4C6D8-F274-4D3C-9BD6-1D3C254E545F}"/>
              </a:ext>
            </a:extLst>
          </p:cNvPr>
          <p:cNvSpPr>
            <a:spLocks noGrp="1"/>
          </p:cNvSpPr>
          <p:nvPr/>
        </p:nvSpPr>
        <p:spPr>
          <a:xfrm>
            <a:off x="609600" y="6572250"/>
            <a:ext cx="542925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975" b="0">
                <a:solidFill>
                  <a:srgbClr val="68716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68716B"/>
                </a:solidFill>
                <a:latin typeface="Microsoft YaHei"/>
                <a:ea typeface="Microsoft YaHei"/>
                <a:cs typeface="Microsoft YaHei"/>
              </a:rPr>
              <a:t>不监控  ·  不诊断  ·  只同步必要信息</a:t>
            </a:r>
          </a:p>
        </p:txBody>
      </p:sp>
      <p:sp>
        <p:nvSpPr>
          <p:cNvPr id="34" name="矩形 33">
            <a:extLst>
              <a:ext uri="{FF2B5EF4-FFF2-40B4-BE49-F238E27FC236}">
                <a16:creationId xmlns:a16="http://schemas.microsoft.com/office/drawing/2014/main" id="{64C7A1F3-2475-4527-BB3A-9FEAB522FCE9}"/>
              </a:ext>
            </a:extLst>
          </p:cNvPr>
          <p:cNvSpPr>
            <a:spLocks noGrp="1"/>
          </p:cNvSpPr>
          <p:nvPr/>
        </p:nvSpPr>
        <p:spPr>
          <a:xfrm>
            <a:off x="10668000" y="6572250"/>
            <a:ext cx="9144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r">
              <a:defRPr sz="975" b="0">
                <a:solidFill>
                  <a:srgbClr val="68716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68716B"/>
                </a:solidFill>
                <a:latin typeface="Microsoft YaHei"/>
                <a:ea typeface="Microsoft YaHei"/>
                <a:cs typeface="Microsoft YaHei"/>
              </a:rPr>
              <a:t>09 / 12</a:t>
            </a:r>
          </a:p>
        </p:txBody>
      </p:sp>
    </p:spTree>
    <p:extLst>
      <p:ext uri="{BB962C8B-B14F-4D97-AF65-F5344CB8AC3E}">
        <p14:creationId xmlns:p14="http://schemas.microsoft.com/office/powerpoint/2010/main" val="77478716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6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矩形 26">
            <a:extLst>
              <a:ext uri="{FF2B5EF4-FFF2-40B4-BE49-F238E27FC236}">
                <a16:creationId xmlns:a16="http://schemas.microsoft.com/office/drawing/2014/main" id="{F30BDDD9-2A55-48BC-B41F-99CAF709E37B}"/>
              </a:ext>
            </a:extLst>
          </p:cNvPr>
          <p:cNvSpPr>
            <a:spLocks noGrp="1"/>
          </p:cNvSpPr>
          <p:nvPr/>
        </p:nvSpPr>
        <p:spPr>
          <a:xfrm>
            <a:off x="609600" y="342900"/>
            <a:ext cx="42862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200" b="1">
                <a:solidFill>
                  <a:srgbClr val="68716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68716B"/>
                </a:solidFill>
                <a:latin typeface="Microsoft YaHei"/>
                <a:ea typeface="Microsoft YaHei"/>
                <a:cs typeface="Microsoft YaHei"/>
              </a:rPr>
              <a:t>安心问候  /  验收证据</a:t>
            </a: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B0A2D2F9-74DD-4312-97C4-8A1ABB606337}"/>
              </a:ext>
            </a:extLst>
          </p:cNvPr>
          <p:cNvSpPr>
            <a:spLocks noGrp="1"/>
          </p:cNvSpPr>
          <p:nvPr/>
        </p:nvSpPr>
        <p:spPr>
          <a:xfrm>
            <a:off x="11334750" y="342900"/>
            <a:ext cx="2857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r">
              <a:defRPr sz="1200" b="1">
                <a:solidFill>
                  <a:srgbClr val="68716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68716B"/>
                </a:solidFill>
                <a:latin typeface="Microsoft YaHei"/>
                <a:ea typeface="Microsoft YaHei"/>
                <a:cs typeface="Microsoft YaHei"/>
              </a:rPr>
              <a:t>10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B443B92F-05D1-4899-8A30-2BBBC49D9933}"/>
              </a:ext>
            </a:extLst>
          </p:cNvPr>
          <p:cNvSpPr>
            <a:spLocks noGrp="1"/>
          </p:cNvSpPr>
          <p:nvPr/>
        </p:nvSpPr>
        <p:spPr>
          <a:xfrm>
            <a:off x="609600" y="742950"/>
            <a:ext cx="11049000" cy="723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3450" b="1">
                <a:solidFill>
                  <a:srgbClr val="151A1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450" b="1">
                <a:solidFill>
                  <a:srgbClr val="151A17"/>
                </a:solidFill>
                <a:latin typeface="Microsoft YaHei"/>
                <a:ea typeface="Microsoft YaHei"/>
                <a:cs typeface="Microsoft YaHei"/>
              </a:rPr>
              <a:t>现在交付的是可演示、可复现、可审计的 MVP</a:t>
            </a: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0C277243-891D-4152-A6F6-91DED908A7A4}"/>
              </a:ext>
            </a:extLst>
          </p:cNvPr>
          <p:cNvSpPr>
            <a:spLocks noGrp="1"/>
          </p:cNvSpPr>
          <p:nvPr/>
        </p:nvSpPr>
        <p:spPr>
          <a:xfrm>
            <a:off x="609600" y="1962150"/>
            <a:ext cx="2286000" cy="781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4350" b="1">
                <a:solidFill>
                  <a:srgbClr val="174C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4350" b="1">
                <a:solidFill>
                  <a:srgbClr val="174C3B"/>
                </a:solidFill>
                <a:latin typeface="Microsoft YaHei"/>
                <a:ea typeface="Microsoft YaHei"/>
                <a:cs typeface="Microsoft YaHei"/>
              </a:rPr>
              <a:t>16/16</a:t>
            </a: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6FE5C099-6D07-4944-AD60-909E2DD8F9C5}"/>
              </a:ext>
            </a:extLst>
          </p:cNvPr>
          <p:cNvSpPr>
            <a:spLocks noGrp="1"/>
          </p:cNvSpPr>
          <p:nvPr/>
        </p:nvSpPr>
        <p:spPr>
          <a:xfrm>
            <a:off x="609600" y="2876550"/>
            <a:ext cx="22860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725" b="1">
                <a:solidFill>
                  <a:srgbClr val="151A1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151A17"/>
                </a:solidFill>
                <a:latin typeface="Microsoft YaHei"/>
                <a:ea typeface="Microsoft YaHei"/>
                <a:cs typeface="Microsoft YaHei"/>
              </a:rPr>
              <a:t>规则测试</a:t>
            </a: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448D533A-F133-42A7-87F3-6700341B4964}"/>
              </a:ext>
            </a:extLst>
          </p:cNvPr>
          <p:cNvSpPr>
            <a:spLocks noGrp="1"/>
          </p:cNvSpPr>
          <p:nvPr/>
        </p:nvSpPr>
        <p:spPr>
          <a:xfrm>
            <a:off x="609600" y="3276600"/>
            <a:ext cx="22860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425" b="0">
                <a:solidFill>
                  <a:srgbClr val="68716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68716B"/>
                </a:solidFill>
                <a:latin typeface="Microsoft YaHei"/>
                <a:ea typeface="Microsoft YaHei"/>
                <a:cs typeface="Microsoft YaHei"/>
              </a:rPr>
              <a:t>全部通过</a:t>
            </a: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D8A5E175-2AB7-48A0-867D-12AB51609428}"/>
              </a:ext>
            </a:extLst>
          </p:cNvPr>
          <p:cNvSpPr>
            <a:spLocks noGrp="1"/>
          </p:cNvSpPr>
          <p:nvPr/>
        </p:nvSpPr>
        <p:spPr>
          <a:xfrm>
            <a:off x="3067050" y="1943100"/>
            <a:ext cx="9525" cy="1809750"/>
          </a:xfrm>
          <a:prstGeom prst="rect">
            <a:avLst/>
          </a:prstGeom>
          <a:solidFill>
            <a:srgbClr val="CDD3CE"/>
          </a:solidFill>
          <a:ln w="0">
            <a:noFill/>
            <a:prstDash val="solid"/>
          </a:ln>
        </p:spPr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44394FCD-B0D8-4A5C-A889-7A687419415C}"/>
              </a:ext>
            </a:extLst>
          </p:cNvPr>
          <p:cNvSpPr>
            <a:spLocks noGrp="1"/>
          </p:cNvSpPr>
          <p:nvPr/>
        </p:nvSpPr>
        <p:spPr>
          <a:xfrm>
            <a:off x="3352800" y="1962150"/>
            <a:ext cx="2286000" cy="781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4350" b="1">
                <a:solidFill>
                  <a:srgbClr val="3F718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4350" b="1">
                <a:solidFill>
                  <a:srgbClr val="3F7183"/>
                </a:solidFill>
                <a:latin typeface="Microsoft YaHei"/>
                <a:ea typeface="Microsoft YaHei"/>
                <a:cs typeface="Microsoft YaHei"/>
              </a:rPr>
              <a:t>5/5</a:t>
            </a: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198A8969-649E-4F31-8F20-5F3E1C9A71E8}"/>
              </a:ext>
            </a:extLst>
          </p:cNvPr>
          <p:cNvSpPr>
            <a:spLocks noGrp="1"/>
          </p:cNvSpPr>
          <p:nvPr/>
        </p:nvSpPr>
        <p:spPr>
          <a:xfrm>
            <a:off x="3352800" y="2876550"/>
            <a:ext cx="22860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725" b="1">
                <a:solidFill>
                  <a:srgbClr val="151A1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151A17"/>
                </a:solidFill>
                <a:latin typeface="Microsoft YaHei"/>
                <a:ea typeface="Microsoft YaHei"/>
                <a:cs typeface="Microsoft YaHei"/>
              </a:rPr>
              <a:t>标准场景</a:t>
            </a: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7178BC58-E238-4D13-B60F-83AE6EC35C7A}"/>
              </a:ext>
            </a:extLst>
          </p:cNvPr>
          <p:cNvSpPr>
            <a:spLocks noGrp="1"/>
          </p:cNvSpPr>
          <p:nvPr/>
        </p:nvSpPr>
        <p:spPr>
          <a:xfrm>
            <a:off x="3352800" y="3276600"/>
            <a:ext cx="22860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425" b="0">
                <a:solidFill>
                  <a:srgbClr val="68716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68716B"/>
                </a:solidFill>
                <a:latin typeface="Microsoft YaHei"/>
                <a:ea typeface="Microsoft YaHei"/>
                <a:cs typeface="Microsoft YaHei"/>
              </a:rPr>
              <a:t>全部复现</a:t>
            </a:r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67FCEF69-4477-46FE-A91C-BFA0AA270451}"/>
              </a:ext>
            </a:extLst>
          </p:cNvPr>
          <p:cNvSpPr>
            <a:spLocks noGrp="1"/>
          </p:cNvSpPr>
          <p:nvPr/>
        </p:nvSpPr>
        <p:spPr>
          <a:xfrm>
            <a:off x="5810250" y="1943100"/>
            <a:ext cx="9525" cy="1809750"/>
          </a:xfrm>
          <a:prstGeom prst="rect">
            <a:avLst/>
          </a:prstGeom>
          <a:solidFill>
            <a:srgbClr val="CDD3CE"/>
          </a:solidFill>
          <a:ln w="0">
            <a:noFill/>
            <a:prstDash val="solid"/>
          </a:ln>
        </p:spPr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6BFFFD9C-24CA-43D8-AFE8-6D065DEB0055}"/>
              </a:ext>
            </a:extLst>
          </p:cNvPr>
          <p:cNvSpPr>
            <a:spLocks noGrp="1"/>
          </p:cNvSpPr>
          <p:nvPr/>
        </p:nvSpPr>
        <p:spPr>
          <a:xfrm>
            <a:off x="6096000" y="1962150"/>
            <a:ext cx="2286000" cy="781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4350" b="1">
                <a:solidFill>
                  <a:srgbClr val="C58A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4350" b="1">
                <a:solidFill>
                  <a:srgbClr val="C58A2B"/>
                </a:solidFill>
                <a:latin typeface="Microsoft YaHei"/>
                <a:ea typeface="Microsoft YaHei"/>
                <a:cs typeface="Microsoft YaHei"/>
              </a:rPr>
              <a:t>通过</a:t>
            </a: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112BF16F-39DD-40B7-A121-FC0B9AF10D10}"/>
              </a:ext>
            </a:extLst>
          </p:cNvPr>
          <p:cNvSpPr>
            <a:spLocks noGrp="1"/>
          </p:cNvSpPr>
          <p:nvPr/>
        </p:nvSpPr>
        <p:spPr>
          <a:xfrm>
            <a:off x="6096000" y="2876550"/>
            <a:ext cx="22860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725" b="1">
                <a:solidFill>
                  <a:srgbClr val="151A1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151A17"/>
                </a:solidFill>
                <a:latin typeface="Microsoft YaHei"/>
                <a:ea typeface="Microsoft YaHei"/>
                <a:cs typeface="Microsoft YaHei"/>
              </a:rPr>
              <a:t>TypeScript + Vite</a:t>
            </a:r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85EDFCF5-3234-4A41-97EC-C3C44A8BE3B7}"/>
              </a:ext>
            </a:extLst>
          </p:cNvPr>
          <p:cNvSpPr>
            <a:spLocks noGrp="1"/>
          </p:cNvSpPr>
          <p:nvPr/>
        </p:nvSpPr>
        <p:spPr>
          <a:xfrm>
            <a:off x="6096000" y="3276600"/>
            <a:ext cx="22860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425" b="0">
                <a:solidFill>
                  <a:srgbClr val="68716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68716B"/>
                </a:solidFill>
                <a:latin typeface="Microsoft YaHei"/>
                <a:ea typeface="Microsoft YaHei"/>
                <a:cs typeface="Microsoft YaHei"/>
              </a:rPr>
              <a:t>生产构建</a:t>
            </a:r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4235BCC3-E5DD-4FA8-A442-F2A29A470D71}"/>
              </a:ext>
            </a:extLst>
          </p:cNvPr>
          <p:cNvSpPr>
            <a:spLocks noGrp="1"/>
          </p:cNvSpPr>
          <p:nvPr/>
        </p:nvSpPr>
        <p:spPr>
          <a:xfrm>
            <a:off x="8553450" y="1943100"/>
            <a:ext cx="9525" cy="1809750"/>
          </a:xfrm>
          <a:prstGeom prst="rect">
            <a:avLst/>
          </a:prstGeom>
          <a:solidFill>
            <a:srgbClr val="CDD3CE"/>
          </a:solidFill>
          <a:ln w="0">
            <a:noFill/>
            <a:prstDash val="solid"/>
          </a:ln>
        </p:spPr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CC1C3243-67E8-45B1-B268-CF14BA06D82E}"/>
              </a:ext>
            </a:extLst>
          </p:cNvPr>
          <p:cNvSpPr>
            <a:spLocks noGrp="1"/>
          </p:cNvSpPr>
          <p:nvPr/>
        </p:nvSpPr>
        <p:spPr>
          <a:xfrm>
            <a:off x="8839200" y="1962150"/>
            <a:ext cx="2286000" cy="781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4350" b="1">
                <a:solidFill>
                  <a:srgbClr val="B83A3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4350" b="1">
                <a:solidFill>
                  <a:srgbClr val="B83A31"/>
                </a:solidFill>
                <a:latin typeface="Microsoft YaHei"/>
                <a:ea typeface="Microsoft YaHei"/>
                <a:cs typeface="Microsoft YaHei"/>
              </a:rPr>
              <a:t>3:20</a:t>
            </a:r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0FFDDD1A-CD9A-4E87-A337-8E8A52ED65A9}"/>
              </a:ext>
            </a:extLst>
          </p:cNvPr>
          <p:cNvSpPr>
            <a:spLocks noGrp="1"/>
          </p:cNvSpPr>
          <p:nvPr/>
        </p:nvSpPr>
        <p:spPr>
          <a:xfrm>
            <a:off x="8839200" y="2876550"/>
            <a:ext cx="22860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725" b="1">
                <a:solidFill>
                  <a:srgbClr val="151A1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151A17"/>
                </a:solidFill>
                <a:latin typeface="Microsoft YaHei"/>
                <a:ea typeface="Microsoft YaHei"/>
                <a:cs typeface="Microsoft YaHei"/>
              </a:rPr>
              <a:t>展示视频</a:t>
            </a:r>
          </a:p>
        </p:txBody>
      </p:sp>
      <p:sp>
        <p:nvSpPr>
          <p:cNvPr id="18" name="矩形 17">
            <a:extLst>
              <a:ext uri="{FF2B5EF4-FFF2-40B4-BE49-F238E27FC236}">
                <a16:creationId xmlns:a16="http://schemas.microsoft.com/office/drawing/2014/main" id="{2BDC2E6F-594A-41A7-BF56-A95D20BFF824}"/>
              </a:ext>
            </a:extLst>
          </p:cNvPr>
          <p:cNvSpPr>
            <a:spLocks noGrp="1"/>
          </p:cNvSpPr>
          <p:nvPr/>
        </p:nvSpPr>
        <p:spPr>
          <a:xfrm>
            <a:off x="8839200" y="3276600"/>
            <a:ext cx="22860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425" b="0">
                <a:solidFill>
                  <a:srgbClr val="68716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68716B"/>
                </a:solidFill>
                <a:latin typeface="Microsoft YaHei"/>
                <a:ea typeface="Microsoft YaHei"/>
                <a:cs typeface="Microsoft YaHei"/>
              </a:rPr>
              <a:t>1080p 完整解码</a:t>
            </a:r>
          </a:p>
        </p:txBody>
      </p:sp>
      <p:sp>
        <p:nvSpPr>
          <p:cNvPr id="19" name="矩形: 圆角 18">
            <a:extLst>
              <a:ext uri="{FF2B5EF4-FFF2-40B4-BE49-F238E27FC236}">
                <a16:creationId xmlns:a16="http://schemas.microsoft.com/office/drawing/2014/main" id="{AE112C91-AC26-4A90-AA09-FFC58AD81B37}"/>
              </a:ext>
            </a:extLst>
          </p:cNvPr>
          <p:cNvSpPr>
            <a:spLocks noGrp="1"/>
          </p:cNvSpPr>
          <p:nvPr/>
        </p:nvSpPr>
        <p:spPr>
          <a:xfrm>
            <a:off x="609600" y="4191000"/>
            <a:ext cx="10972800" cy="1390650"/>
          </a:xfrm>
          <a:prstGeom prst="roundRect">
            <a:avLst>
              <a:gd name="adj" fmla="val 2740"/>
            </a:avLst>
          </a:prstGeom>
          <a:solidFill>
            <a:srgbClr val="FFFFFF"/>
          </a:solidFill>
          <a:ln w="9525">
            <a:solidFill>
              <a:srgbClr val="CDD3CE"/>
            </a:solidFill>
            <a:prstDash val="solid"/>
          </a:ln>
        </p:spPr>
      </p:sp>
      <p:sp>
        <p:nvSpPr>
          <p:cNvPr id="20" name="矩形 19">
            <a:extLst>
              <a:ext uri="{FF2B5EF4-FFF2-40B4-BE49-F238E27FC236}">
                <a16:creationId xmlns:a16="http://schemas.microsoft.com/office/drawing/2014/main" id="{FB454E5A-9738-45BF-B634-4DC6C9D22831}"/>
              </a:ext>
            </a:extLst>
          </p:cNvPr>
          <p:cNvSpPr>
            <a:spLocks noGrp="1"/>
          </p:cNvSpPr>
          <p:nvPr/>
        </p:nvSpPr>
        <p:spPr>
          <a:xfrm>
            <a:off x="895350" y="4457700"/>
            <a:ext cx="447675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875" b="1">
                <a:solidFill>
                  <a:srgbClr val="B83A3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B83A31"/>
                </a:solidFill>
                <a:latin typeface="Microsoft YaHei"/>
                <a:ea typeface="Microsoft YaHei"/>
                <a:cs typeface="Microsoft YaHei"/>
              </a:rPr>
              <a:t>尚未完成，因此不冒充“已上线”</a:t>
            </a:r>
          </a:p>
        </p:txBody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3895C25D-65CA-4BFC-BEB2-EC56E943CC4F}"/>
              </a:ext>
            </a:extLst>
          </p:cNvPr>
          <p:cNvSpPr>
            <a:spLocks noGrp="1"/>
          </p:cNvSpPr>
          <p:nvPr/>
        </p:nvSpPr>
        <p:spPr>
          <a:xfrm>
            <a:off x="895350" y="4972050"/>
            <a:ext cx="257175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575" b="1">
                <a:solidFill>
                  <a:srgbClr val="151A1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151A17"/>
                </a:solidFill>
                <a:latin typeface="Microsoft YaHei"/>
                <a:ea typeface="Microsoft YaHei"/>
                <a:cs typeface="Microsoft YaHei"/>
              </a:rPr>
              <a:t>3+3 真实用户测试</a:t>
            </a:r>
          </a:p>
        </p:txBody>
      </p:sp>
      <p:sp>
        <p:nvSpPr>
          <p:cNvPr id="22" name="矩形 21">
            <a:extLst>
              <a:ext uri="{FF2B5EF4-FFF2-40B4-BE49-F238E27FC236}">
                <a16:creationId xmlns:a16="http://schemas.microsoft.com/office/drawing/2014/main" id="{D2BCB54F-9FB8-4BE3-82FD-3BF44BB0920D}"/>
              </a:ext>
            </a:extLst>
          </p:cNvPr>
          <p:cNvSpPr>
            <a:spLocks noGrp="1"/>
          </p:cNvSpPr>
          <p:nvPr/>
        </p:nvSpPr>
        <p:spPr>
          <a:xfrm>
            <a:off x="4000500" y="4972050"/>
            <a:ext cx="238125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575" b="1">
                <a:solidFill>
                  <a:srgbClr val="151A1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151A17"/>
                </a:solidFill>
                <a:latin typeface="Microsoft YaHei"/>
                <a:ea typeface="Microsoft YaHei"/>
                <a:cs typeface="Microsoft YaHei"/>
              </a:rPr>
              <a:t>公网可访问部署</a:t>
            </a:r>
          </a:p>
        </p:txBody>
      </p:sp>
      <p:sp>
        <p:nvSpPr>
          <p:cNvPr id="23" name="矩形 22">
            <a:extLst>
              <a:ext uri="{FF2B5EF4-FFF2-40B4-BE49-F238E27FC236}">
                <a16:creationId xmlns:a16="http://schemas.microsoft.com/office/drawing/2014/main" id="{BB044B68-EAF4-40F3-A824-BCA58C069046}"/>
              </a:ext>
            </a:extLst>
          </p:cNvPr>
          <p:cNvSpPr>
            <a:spLocks noGrp="1"/>
          </p:cNvSpPr>
          <p:nvPr/>
        </p:nvSpPr>
        <p:spPr>
          <a:xfrm>
            <a:off x="6953250" y="4972050"/>
            <a:ext cx="371475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575" b="1">
                <a:solidFill>
                  <a:srgbClr val="151A1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151A17"/>
                </a:solidFill>
                <a:latin typeface="Microsoft YaHei"/>
                <a:ea typeface="Microsoft YaHei"/>
                <a:cs typeface="Microsoft YaHei"/>
              </a:rPr>
              <a:t>真实账号、通知与跨设备同步</a:t>
            </a:r>
          </a:p>
        </p:txBody>
      </p:sp>
      <p:sp>
        <p:nvSpPr>
          <p:cNvPr id="24" name="矩形 23">
            <a:extLst>
              <a:ext uri="{FF2B5EF4-FFF2-40B4-BE49-F238E27FC236}">
                <a16:creationId xmlns:a16="http://schemas.microsoft.com/office/drawing/2014/main" id="{7CAEC2DF-BBE3-45F3-806A-0B63A974D7DB}"/>
              </a:ext>
            </a:extLst>
          </p:cNvPr>
          <p:cNvSpPr>
            <a:spLocks noGrp="1"/>
          </p:cNvSpPr>
          <p:nvPr/>
        </p:nvSpPr>
        <p:spPr>
          <a:xfrm>
            <a:off x="609600" y="6486525"/>
            <a:ext cx="10972800" cy="9525"/>
          </a:xfrm>
          <a:prstGeom prst="rect">
            <a:avLst/>
          </a:prstGeom>
          <a:solidFill>
            <a:srgbClr val="CDD3CE"/>
          </a:solidFill>
          <a:ln w="0">
            <a:noFill/>
            <a:prstDash val="solid"/>
          </a:ln>
        </p:spPr>
      </p:sp>
      <p:sp>
        <p:nvSpPr>
          <p:cNvPr id="25" name="矩形 24">
            <a:extLst>
              <a:ext uri="{FF2B5EF4-FFF2-40B4-BE49-F238E27FC236}">
                <a16:creationId xmlns:a16="http://schemas.microsoft.com/office/drawing/2014/main" id="{271FDBEA-53D6-4C03-AF49-29C50836439B}"/>
              </a:ext>
            </a:extLst>
          </p:cNvPr>
          <p:cNvSpPr>
            <a:spLocks noGrp="1"/>
          </p:cNvSpPr>
          <p:nvPr/>
        </p:nvSpPr>
        <p:spPr>
          <a:xfrm>
            <a:off x="609600" y="6572250"/>
            <a:ext cx="542925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975" b="0">
                <a:solidFill>
                  <a:srgbClr val="68716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68716B"/>
                </a:solidFill>
                <a:latin typeface="Microsoft YaHei"/>
                <a:ea typeface="Microsoft YaHei"/>
                <a:cs typeface="Microsoft YaHei"/>
              </a:rPr>
              <a:t>不监控  ·  不诊断  ·  只同步必要信息</a:t>
            </a:r>
          </a:p>
        </p:txBody>
      </p:sp>
      <p:sp>
        <p:nvSpPr>
          <p:cNvPr id="26" name="矩形 25">
            <a:extLst>
              <a:ext uri="{FF2B5EF4-FFF2-40B4-BE49-F238E27FC236}">
                <a16:creationId xmlns:a16="http://schemas.microsoft.com/office/drawing/2014/main" id="{34716064-CC8F-4E16-8385-A66A23015AB2}"/>
              </a:ext>
            </a:extLst>
          </p:cNvPr>
          <p:cNvSpPr>
            <a:spLocks noGrp="1"/>
          </p:cNvSpPr>
          <p:nvPr/>
        </p:nvSpPr>
        <p:spPr>
          <a:xfrm>
            <a:off x="10668000" y="6572250"/>
            <a:ext cx="9144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r">
              <a:defRPr sz="975" b="0">
                <a:solidFill>
                  <a:srgbClr val="68716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68716B"/>
                </a:solidFill>
                <a:latin typeface="Microsoft YaHei"/>
                <a:ea typeface="Microsoft YaHei"/>
                <a:cs typeface="Microsoft YaHei"/>
              </a:rPr>
              <a:t>10 / 12</a:t>
            </a:r>
          </a:p>
        </p:txBody>
      </p:sp>
    </p:spTree>
    <p:extLst>
      <p:ext uri="{BB962C8B-B14F-4D97-AF65-F5344CB8AC3E}">
        <p14:creationId xmlns:p14="http://schemas.microsoft.com/office/powerpoint/2010/main" val="119588886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矩形 24">
            <a:extLst>
              <a:ext uri="{FF2B5EF4-FFF2-40B4-BE49-F238E27FC236}">
                <a16:creationId xmlns:a16="http://schemas.microsoft.com/office/drawing/2014/main" id="{E4EE849C-50DF-43FD-857E-AFDBCA59014C}"/>
              </a:ext>
            </a:extLst>
          </p:cNvPr>
          <p:cNvSpPr>
            <a:spLocks noGrp="1"/>
          </p:cNvSpPr>
          <p:nvPr/>
        </p:nvSpPr>
        <p:spPr>
          <a:xfrm>
            <a:off x="609600" y="342900"/>
            <a:ext cx="42862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200" b="1">
                <a:solidFill>
                  <a:srgbClr val="68716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68716B"/>
                </a:solidFill>
                <a:latin typeface="Microsoft YaHei"/>
                <a:ea typeface="Microsoft YaHei"/>
                <a:cs typeface="Microsoft YaHei"/>
              </a:rPr>
              <a:t>安心问候  /  路线图</a:t>
            </a: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0E700B44-FB2D-477D-A4AF-EDF3E4601424}"/>
              </a:ext>
            </a:extLst>
          </p:cNvPr>
          <p:cNvSpPr>
            <a:spLocks noGrp="1"/>
          </p:cNvSpPr>
          <p:nvPr/>
        </p:nvSpPr>
        <p:spPr>
          <a:xfrm>
            <a:off x="11334750" y="342900"/>
            <a:ext cx="2857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r">
              <a:defRPr sz="1200" b="1">
                <a:solidFill>
                  <a:srgbClr val="68716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68716B"/>
                </a:solidFill>
                <a:latin typeface="Microsoft YaHei"/>
                <a:ea typeface="Microsoft YaHei"/>
                <a:cs typeface="Microsoft YaHei"/>
              </a:rPr>
              <a:t>11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B58B2BA4-5C31-4C8E-8106-9B583ED8AF7C}"/>
              </a:ext>
            </a:extLst>
          </p:cNvPr>
          <p:cNvSpPr>
            <a:spLocks noGrp="1"/>
          </p:cNvSpPr>
          <p:nvPr/>
        </p:nvSpPr>
        <p:spPr>
          <a:xfrm>
            <a:off x="609600" y="742950"/>
            <a:ext cx="10287000" cy="723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3750" b="1">
                <a:solidFill>
                  <a:srgbClr val="151A1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750" b="1">
                <a:solidFill>
                  <a:srgbClr val="151A17"/>
                </a:solidFill>
                <a:latin typeface="Microsoft YaHei"/>
                <a:ea typeface="Microsoft YaHei"/>
                <a:cs typeface="Microsoft YaHei"/>
              </a:rPr>
              <a:t>从本地演示到家庭试点，先补真实连接</a:t>
            </a: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E4AD28F7-4C31-451B-9E9C-454D0BB6266A}"/>
              </a:ext>
            </a:extLst>
          </p:cNvPr>
          <p:cNvSpPr>
            <a:spLocks noGrp="1"/>
          </p:cNvSpPr>
          <p:nvPr/>
        </p:nvSpPr>
        <p:spPr>
          <a:xfrm>
            <a:off x="1238250" y="2705100"/>
            <a:ext cx="9715500" cy="28575"/>
          </a:xfrm>
          <a:prstGeom prst="rect">
            <a:avLst/>
          </a:prstGeom>
          <a:solidFill>
            <a:srgbClr val="CDD3CE"/>
          </a:solidFill>
          <a:ln w="0">
            <a:noFill/>
            <a:prstDash val="solid"/>
          </a:ln>
        </p:spPr>
      </p:sp>
      <p:sp>
        <p:nvSpPr>
          <p:cNvPr id="5" name="椭圆 4">
            <a:extLst>
              <a:ext uri="{FF2B5EF4-FFF2-40B4-BE49-F238E27FC236}">
                <a16:creationId xmlns:a16="http://schemas.microsoft.com/office/drawing/2014/main" id="{5D12B2DE-011D-4A30-B6D8-88C893EC9E33}"/>
              </a:ext>
            </a:extLst>
          </p:cNvPr>
          <p:cNvSpPr>
            <a:spLocks noGrp="1"/>
          </p:cNvSpPr>
          <p:nvPr/>
        </p:nvSpPr>
        <p:spPr>
          <a:xfrm>
            <a:off x="1238250" y="2457450"/>
            <a:ext cx="533400" cy="533400"/>
          </a:xfrm>
          <a:prstGeom prst="ellipse">
            <a:avLst/>
          </a:prstGeom>
          <a:solidFill>
            <a:srgbClr val="FFFFFF"/>
          </a:solidFill>
          <a:ln w="38100">
            <a:solidFill>
              <a:srgbClr val="174C3B"/>
            </a:solidFill>
            <a:prstDash val="solid"/>
          </a:ln>
        </p:spPr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7B727F1A-946D-49D4-90CC-1BF65AA10525}"/>
              </a:ext>
            </a:extLst>
          </p:cNvPr>
          <p:cNvSpPr>
            <a:spLocks noGrp="1"/>
          </p:cNvSpPr>
          <p:nvPr/>
        </p:nvSpPr>
        <p:spPr>
          <a:xfrm>
            <a:off x="1238250" y="2571750"/>
            <a:ext cx="5334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ctr">
              <a:defRPr sz="1650" b="1">
                <a:solidFill>
                  <a:srgbClr val="174C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174C3B"/>
                </a:solidFill>
                <a:latin typeface="Microsoft YaHei"/>
                <a:ea typeface="Microsoft YaHei"/>
                <a:cs typeface="Microsoft YaHei"/>
              </a:rPr>
              <a:t>1</a:t>
            </a: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669B697E-891A-4C81-8F89-24CC600C56E6}"/>
              </a:ext>
            </a:extLst>
          </p:cNvPr>
          <p:cNvSpPr>
            <a:spLocks noGrp="1"/>
          </p:cNvSpPr>
          <p:nvPr/>
        </p:nvSpPr>
        <p:spPr>
          <a:xfrm>
            <a:off x="781050" y="3238500"/>
            <a:ext cx="28575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800" b="1">
                <a:solidFill>
                  <a:srgbClr val="151A1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151A17"/>
                </a:solidFill>
                <a:latin typeface="Microsoft YaHei"/>
                <a:ea typeface="Microsoft YaHei"/>
                <a:cs typeface="Microsoft YaHei"/>
              </a:rPr>
              <a:t>参赛前</a:t>
            </a: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4B8E26D2-01CF-4343-8DD9-68584925CADB}"/>
              </a:ext>
            </a:extLst>
          </p:cNvPr>
          <p:cNvSpPr>
            <a:spLocks noGrp="1"/>
          </p:cNvSpPr>
          <p:nvPr/>
        </p:nvSpPr>
        <p:spPr>
          <a:xfrm>
            <a:off x="781050" y="3714750"/>
            <a:ext cx="285750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725" b="1">
                <a:solidFill>
                  <a:srgbClr val="174C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174C3B"/>
                </a:solidFill>
                <a:latin typeface="Microsoft YaHei"/>
                <a:ea typeface="Microsoft YaHei"/>
                <a:cs typeface="Microsoft YaHei"/>
              </a:rPr>
              <a:t>公网部署 + 3+3 小测试</a:t>
            </a: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AC067715-52B4-4490-9E06-24AD94E56DA1}"/>
              </a:ext>
            </a:extLst>
          </p:cNvPr>
          <p:cNvSpPr>
            <a:spLocks noGrp="1"/>
          </p:cNvSpPr>
          <p:nvPr/>
        </p:nvSpPr>
        <p:spPr>
          <a:xfrm>
            <a:off x="781050" y="4438650"/>
            <a:ext cx="2857500" cy="876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650" b="0">
                <a:solidFill>
                  <a:srgbClr val="68716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68716B"/>
                </a:solidFill>
                <a:latin typeface="Microsoft YaHei"/>
                <a:ea typeface="Microsoft YaHei"/>
                <a:cs typeface="Microsoft YaHei"/>
              </a:rPr>
              <a:t>证明老人能完成、家属能读懂</a:t>
            </a:r>
          </a:p>
        </p:txBody>
      </p:sp>
      <p:sp>
        <p:nvSpPr>
          <p:cNvPr id="10" name="椭圆 9">
            <a:extLst>
              <a:ext uri="{FF2B5EF4-FFF2-40B4-BE49-F238E27FC236}">
                <a16:creationId xmlns:a16="http://schemas.microsoft.com/office/drawing/2014/main" id="{72AF17C4-4DE9-45EA-BF92-A31B1DDE38F2}"/>
              </a:ext>
            </a:extLst>
          </p:cNvPr>
          <p:cNvSpPr>
            <a:spLocks noGrp="1"/>
          </p:cNvSpPr>
          <p:nvPr/>
        </p:nvSpPr>
        <p:spPr>
          <a:xfrm>
            <a:off x="4762500" y="2457450"/>
            <a:ext cx="533400" cy="533400"/>
          </a:xfrm>
          <a:prstGeom prst="ellipse">
            <a:avLst/>
          </a:prstGeom>
          <a:solidFill>
            <a:srgbClr val="FFFFFF"/>
          </a:solidFill>
          <a:ln w="38100">
            <a:solidFill>
              <a:srgbClr val="3F7183"/>
            </a:solidFill>
            <a:prstDash val="solid"/>
          </a:ln>
        </p:spPr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92C8492C-7B09-47E5-9660-EAF027DE01C1}"/>
              </a:ext>
            </a:extLst>
          </p:cNvPr>
          <p:cNvSpPr>
            <a:spLocks noGrp="1"/>
          </p:cNvSpPr>
          <p:nvPr/>
        </p:nvSpPr>
        <p:spPr>
          <a:xfrm>
            <a:off x="4762500" y="2571750"/>
            <a:ext cx="5334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ctr">
              <a:defRPr sz="1650" b="1">
                <a:solidFill>
                  <a:srgbClr val="3F718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3F7183"/>
                </a:solidFill>
                <a:latin typeface="Microsoft YaHei"/>
                <a:ea typeface="Microsoft YaHei"/>
                <a:cs typeface="Microsoft YaHei"/>
              </a:rPr>
              <a:t>2</a:t>
            </a: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AB305355-1BF5-45A8-92D2-1B6F1AAD68FF}"/>
              </a:ext>
            </a:extLst>
          </p:cNvPr>
          <p:cNvSpPr>
            <a:spLocks noGrp="1"/>
          </p:cNvSpPr>
          <p:nvPr/>
        </p:nvSpPr>
        <p:spPr>
          <a:xfrm>
            <a:off x="4305300" y="3238500"/>
            <a:ext cx="28575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800" b="1">
                <a:solidFill>
                  <a:srgbClr val="151A1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151A17"/>
                </a:solidFill>
                <a:latin typeface="Microsoft YaHei"/>
                <a:ea typeface="Microsoft YaHei"/>
                <a:cs typeface="Microsoft YaHei"/>
              </a:rPr>
              <a:t>受控技术验证</a:t>
            </a: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9DB98AD7-167D-4460-89CC-8A0183227E21}"/>
              </a:ext>
            </a:extLst>
          </p:cNvPr>
          <p:cNvSpPr>
            <a:spLocks noGrp="1"/>
          </p:cNvSpPr>
          <p:nvPr/>
        </p:nvSpPr>
        <p:spPr>
          <a:xfrm>
            <a:off x="4305300" y="3714750"/>
            <a:ext cx="285750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725" b="1">
                <a:solidFill>
                  <a:srgbClr val="3F718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3F7183"/>
                </a:solidFill>
                <a:latin typeface="Microsoft YaHei"/>
                <a:ea typeface="Microsoft YaHei"/>
                <a:cs typeface="Microsoft YaHei"/>
              </a:rPr>
              <a:t>真实语音 + 通知送达</a:t>
            </a:r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384DECE5-1FEB-4D82-B4AC-0C08317ABD01}"/>
              </a:ext>
            </a:extLst>
          </p:cNvPr>
          <p:cNvSpPr>
            <a:spLocks noGrp="1"/>
          </p:cNvSpPr>
          <p:nvPr/>
        </p:nvSpPr>
        <p:spPr>
          <a:xfrm>
            <a:off x="4305300" y="4438650"/>
            <a:ext cx="2857500" cy="876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650" b="0">
                <a:solidFill>
                  <a:srgbClr val="68716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68716B"/>
                </a:solidFill>
                <a:latin typeface="Microsoft YaHei"/>
                <a:ea typeface="Microsoft YaHei"/>
                <a:cs typeface="Microsoft YaHei"/>
              </a:rPr>
              <a:t>结构化抽取，规则守住边界</a:t>
            </a:r>
          </a:p>
        </p:txBody>
      </p:sp>
      <p:sp>
        <p:nvSpPr>
          <p:cNvPr id="15" name="椭圆 14">
            <a:extLst>
              <a:ext uri="{FF2B5EF4-FFF2-40B4-BE49-F238E27FC236}">
                <a16:creationId xmlns:a16="http://schemas.microsoft.com/office/drawing/2014/main" id="{17A79345-1D1F-416B-BE37-6029EFACECA4}"/>
              </a:ext>
            </a:extLst>
          </p:cNvPr>
          <p:cNvSpPr>
            <a:spLocks noGrp="1"/>
          </p:cNvSpPr>
          <p:nvPr/>
        </p:nvSpPr>
        <p:spPr>
          <a:xfrm>
            <a:off x="8286750" y="2457450"/>
            <a:ext cx="533400" cy="533400"/>
          </a:xfrm>
          <a:prstGeom prst="ellipse">
            <a:avLst/>
          </a:prstGeom>
          <a:solidFill>
            <a:srgbClr val="FFFFFF"/>
          </a:solidFill>
          <a:ln w="38100">
            <a:solidFill>
              <a:srgbClr val="C58A2B"/>
            </a:solidFill>
            <a:prstDash val="solid"/>
          </a:ln>
        </p:spPr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C4DE6C55-C6A5-4E8D-898C-BA87215B823D}"/>
              </a:ext>
            </a:extLst>
          </p:cNvPr>
          <p:cNvSpPr>
            <a:spLocks noGrp="1"/>
          </p:cNvSpPr>
          <p:nvPr/>
        </p:nvSpPr>
        <p:spPr>
          <a:xfrm>
            <a:off x="8286750" y="2571750"/>
            <a:ext cx="5334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ctr">
              <a:defRPr sz="1650" b="1">
                <a:solidFill>
                  <a:srgbClr val="C58A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C58A2B"/>
                </a:solidFill>
                <a:latin typeface="Microsoft YaHei"/>
                <a:ea typeface="Microsoft YaHei"/>
                <a:cs typeface="Microsoft YaHei"/>
              </a:rPr>
              <a:t>3</a:t>
            </a:r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BBE24341-DA80-4639-A88F-08999CB408DF}"/>
              </a:ext>
            </a:extLst>
          </p:cNvPr>
          <p:cNvSpPr>
            <a:spLocks noGrp="1"/>
          </p:cNvSpPr>
          <p:nvPr/>
        </p:nvSpPr>
        <p:spPr>
          <a:xfrm>
            <a:off x="7829550" y="3238500"/>
            <a:ext cx="28575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800" b="1">
                <a:solidFill>
                  <a:srgbClr val="151A1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151A17"/>
                </a:solidFill>
                <a:latin typeface="Microsoft YaHei"/>
                <a:ea typeface="Microsoft YaHei"/>
                <a:cs typeface="Microsoft YaHei"/>
              </a:rPr>
              <a:t>家庭小规模试点</a:t>
            </a:r>
          </a:p>
        </p:txBody>
      </p:sp>
      <p:sp>
        <p:nvSpPr>
          <p:cNvPr id="18" name="矩形 17">
            <a:extLst>
              <a:ext uri="{FF2B5EF4-FFF2-40B4-BE49-F238E27FC236}">
                <a16:creationId xmlns:a16="http://schemas.microsoft.com/office/drawing/2014/main" id="{CBDAAAB2-4399-4D29-AA18-F1FCB249FCE7}"/>
              </a:ext>
            </a:extLst>
          </p:cNvPr>
          <p:cNvSpPr>
            <a:spLocks noGrp="1"/>
          </p:cNvSpPr>
          <p:nvPr/>
        </p:nvSpPr>
        <p:spPr>
          <a:xfrm>
            <a:off x="7829550" y="3714750"/>
            <a:ext cx="285750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725" b="1">
                <a:solidFill>
                  <a:srgbClr val="C58A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C58A2B"/>
                </a:solidFill>
                <a:latin typeface="Microsoft YaHei"/>
                <a:ea typeface="Microsoft YaHei"/>
                <a:cs typeface="Microsoft YaHei"/>
              </a:rPr>
              <a:t>账号授权 + 家庭预案</a:t>
            </a:r>
          </a:p>
        </p:txBody>
      </p:sp>
      <p:sp>
        <p:nvSpPr>
          <p:cNvPr id="19" name="矩形 18">
            <a:extLst>
              <a:ext uri="{FF2B5EF4-FFF2-40B4-BE49-F238E27FC236}">
                <a16:creationId xmlns:a16="http://schemas.microsoft.com/office/drawing/2014/main" id="{FA879B14-D113-4B8F-A228-84D7AA0898CD}"/>
              </a:ext>
            </a:extLst>
          </p:cNvPr>
          <p:cNvSpPr>
            <a:spLocks noGrp="1"/>
          </p:cNvSpPr>
          <p:nvPr/>
        </p:nvSpPr>
        <p:spPr>
          <a:xfrm>
            <a:off x="7829550" y="4438650"/>
            <a:ext cx="2857500" cy="876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650" b="0">
                <a:solidFill>
                  <a:srgbClr val="68716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68716B"/>
                </a:solidFill>
                <a:latin typeface="Microsoft YaHei"/>
                <a:ea typeface="Microsoft YaHei"/>
                <a:cs typeface="Microsoft YaHei"/>
              </a:rPr>
              <a:t>与社区服务共建真实异常联系流程</a:t>
            </a:r>
          </a:p>
        </p:txBody>
      </p:sp>
      <p:sp>
        <p:nvSpPr>
          <p:cNvPr id="20" name="矩形 19">
            <a:extLst>
              <a:ext uri="{FF2B5EF4-FFF2-40B4-BE49-F238E27FC236}">
                <a16:creationId xmlns:a16="http://schemas.microsoft.com/office/drawing/2014/main" id="{A7CD898C-A47C-4967-8B4F-CDD55D1BF078}"/>
              </a:ext>
            </a:extLst>
          </p:cNvPr>
          <p:cNvSpPr>
            <a:spLocks noGrp="1"/>
          </p:cNvSpPr>
          <p:nvPr/>
        </p:nvSpPr>
        <p:spPr>
          <a:xfrm>
            <a:off x="609600" y="5772150"/>
            <a:ext cx="10972800" cy="400050"/>
          </a:xfrm>
          <a:prstGeom prst="rect">
            <a:avLst/>
          </a:prstGeom>
          <a:solidFill>
            <a:srgbClr val="0E3329"/>
          </a:solidFill>
          <a:ln w="0">
            <a:noFill/>
            <a:prstDash val="solid"/>
          </a:ln>
        </p:spPr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38E1DA2D-27A8-471F-9733-A70E137B2A83}"/>
              </a:ext>
            </a:extLst>
          </p:cNvPr>
          <p:cNvSpPr>
            <a:spLocks noGrp="1"/>
          </p:cNvSpPr>
          <p:nvPr/>
        </p:nvSpPr>
        <p:spPr>
          <a:xfrm>
            <a:off x="838200" y="5848350"/>
            <a:ext cx="1042035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ctr">
              <a:defRPr sz="15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不先扩成功能大全；先证明这张回执真的被老人完成、被家属读懂。</a:t>
            </a:r>
          </a:p>
        </p:txBody>
      </p:sp>
      <p:sp>
        <p:nvSpPr>
          <p:cNvPr id="22" name="矩形 21">
            <a:extLst>
              <a:ext uri="{FF2B5EF4-FFF2-40B4-BE49-F238E27FC236}">
                <a16:creationId xmlns:a16="http://schemas.microsoft.com/office/drawing/2014/main" id="{FCB3020A-D239-4A82-8AAB-43FC983B1D7F}"/>
              </a:ext>
            </a:extLst>
          </p:cNvPr>
          <p:cNvSpPr>
            <a:spLocks noGrp="1"/>
          </p:cNvSpPr>
          <p:nvPr/>
        </p:nvSpPr>
        <p:spPr>
          <a:xfrm>
            <a:off x="609600" y="6486525"/>
            <a:ext cx="10972800" cy="9525"/>
          </a:xfrm>
          <a:prstGeom prst="rect">
            <a:avLst/>
          </a:prstGeom>
          <a:solidFill>
            <a:srgbClr val="CDD3CE"/>
          </a:solidFill>
          <a:ln w="0">
            <a:noFill/>
            <a:prstDash val="solid"/>
          </a:ln>
        </p:spPr>
      </p:sp>
      <p:sp>
        <p:nvSpPr>
          <p:cNvPr id="23" name="矩形 22">
            <a:extLst>
              <a:ext uri="{FF2B5EF4-FFF2-40B4-BE49-F238E27FC236}">
                <a16:creationId xmlns:a16="http://schemas.microsoft.com/office/drawing/2014/main" id="{0DFCAFCA-434F-4964-878C-A44EA3BA12CF}"/>
              </a:ext>
            </a:extLst>
          </p:cNvPr>
          <p:cNvSpPr>
            <a:spLocks noGrp="1"/>
          </p:cNvSpPr>
          <p:nvPr/>
        </p:nvSpPr>
        <p:spPr>
          <a:xfrm>
            <a:off x="609600" y="6572250"/>
            <a:ext cx="542925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975" b="0">
                <a:solidFill>
                  <a:srgbClr val="68716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68716B"/>
                </a:solidFill>
                <a:latin typeface="Microsoft YaHei"/>
                <a:ea typeface="Microsoft YaHei"/>
                <a:cs typeface="Microsoft YaHei"/>
              </a:rPr>
              <a:t>不监控  ·  不诊断  ·  只同步必要信息</a:t>
            </a:r>
          </a:p>
        </p:txBody>
      </p:sp>
      <p:sp>
        <p:nvSpPr>
          <p:cNvPr id="24" name="矩形 23">
            <a:extLst>
              <a:ext uri="{FF2B5EF4-FFF2-40B4-BE49-F238E27FC236}">
                <a16:creationId xmlns:a16="http://schemas.microsoft.com/office/drawing/2014/main" id="{5A79C92F-38AF-47F7-9D17-24B6521B944A}"/>
              </a:ext>
            </a:extLst>
          </p:cNvPr>
          <p:cNvSpPr>
            <a:spLocks noGrp="1"/>
          </p:cNvSpPr>
          <p:nvPr/>
        </p:nvSpPr>
        <p:spPr>
          <a:xfrm>
            <a:off x="10668000" y="6572250"/>
            <a:ext cx="9144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r">
              <a:defRPr sz="975" b="0">
                <a:solidFill>
                  <a:srgbClr val="68716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68716B"/>
                </a:solidFill>
                <a:latin typeface="Microsoft YaHei"/>
                <a:ea typeface="Microsoft YaHei"/>
                <a:cs typeface="Microsoft YaHei"/>
              </a:rPr>
              <a:t>11 / 12</a:t>
            </a:r>
          </a:p>
        </p:txBody>
      </p:sp>
    </p:spTree>
    <p:extLst>
      <p:ext uri="{BB962C8B-B14F-4D97-AF65-F5344CB8AC3E}">
        <p14:creationId xmlns:p14="http://schemas.microsoft.com/office/powerpoint/2010/main" val="71403559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E332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矩形 8">
            <a:extLst>
              <a:ext uri="{FF2B5EF4-FFF2-40B4-BE49-F238E27FC236}">
                <a16:creationId xmlns:a16="http://schemas.microsoft.com/office/drawing/2014/main" id="{EF79C8F3-2080-465A-B567-50169BA8A83A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71450" cy="6858000"/>
          </a:xfrm>
          <a:prstGeom prst="rect">
            <a:avLst/>
          </a:prstGeom>
          <a:solidFill>
            <a:srgbClr val="C58A2B"/>
          </a:solidFill>
          <a:ln w="0">
            <a:noFill/>
            <a:prstDash val="solid"/>
          </a:ln>
        </p:spPr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3566B344-6EF2-4996-AEDF-35641FA7CD73}"/>
              </a:ext>
            </a:extLst>
          </p:cNvPr>
          <p:cNvSpPr>
            <a:spLocks noGrp="1"/>
          </p:cNvSpPr>
          <p:nvPr/>
        </p:nvSpPr>
        <p:spPr>
          <a:xfrm>
            <a:off x="685800" y="590550"/>
            <a:ext cx="304800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800" b="1">
                <a:solidFill>
                  <a:srgbClr val="DCEAE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DCEAE2"/>
                </a:solidFill>
                <a:latin typeface="Microsoft YaHei"/>
                <a:ea typeface="Microsoft YaHei"/>
                <a:cs typeface="Microsoft YaHei"/>
              </a:rPr>
              <a:t>安心问候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97E76647-E497-431A-B107-388FB6FA765A}"/>
              </a:ext>
            </a:extLst>
          </p:cNvPr>
          <p:cNvSpPr>
            <a:spLocks noGrp="1"/>
          </p:cNvSpPr>
          <p:nvPr/>
        </p:nvSpPr>
        <p:spPr>
          <a:xfrm>
            <a:off x="685800" y="1676400"/>
            <a:ext cx="9048750" cy="1676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49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49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把每天一句话，</a:t>
            </a:r>
          </a:p>
          <a:p>
            <a:pPr algn="l">
              <a:defRPr sz="49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49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变成家人敢行动的依据。</a:t>
            </a: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DAF53CB2-88DD-43E8-8A7B-56FE7A12CC34}"/>
              </a:ext>
            </a:extLst>
          </p:cNvPr>
          <p:cNvSpPr>
            <a:spLocks noGrp="1"/>
          </p:cNvSpPr>
          <p:nvPr/>
        </p:nvSpPr>
        <p:spPr>
          <a:xfrm>
            <a:off x="704850" y="3733800"/>
            <a:ext cx="1543050" cy="47625"/>
          </a:xfrm>
          <a:prstGeom prst="rect">
            <a:avLst/>
          </a:prstGeom>
          <a:solidFill>
            <a:srgbClr val="C58A2B"/>
          </a:solidFill>
          <a:ln w="0">
            <a:noFill/>
            <a:prstDash val="solid"/>
          </a:ln>
        </p:spPr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294BEFE1-6F3A-4BF4-B7C7-D246C9A69A10}"/>
              </a:ext>
            </a:extLst>
          </p:cNvPr>
          <p:cNvSpPr>
            <a:spLocks noGrp="1"/>
          </p:cNvSpPr>
          <p:nvPr/>
        </p:nvSpPr>
        <p:spPr>
          <a:xfrm>
            <a:off x="685800" y="4095750"/>
            <a:ext cx="7905750" cy="4381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2100" b="1">
                <a:solidFill>
                  <a:srgbClr val="DCEAE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DCEAE2"/>
                </a:solidFill>
                <a:latin typeface="Microsoft YaHei"/>
                <a:ea typeface="Microsoft YaHei"/>
                <a:cs typeface="Microsoft YaHei"/>
              </a:rPr>
              <a:t>原话可见，结论可复核，行动留给家人。</a:t>
            </a: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2AF61074-5F6C-4912-8170-4A1428C1888C}"/>
              </a:ext>
            </a:extLst>
          </p:cNvPr>
          <p:cNvSpPr>
            <a:spLocks noGrp="1"/>
          </p:cNvSpPr>
          <p:nvPr/>
        </p:nvSpPr>
        <p:spPr>
          <a:xfrm>
            <a:off x="685800" y="5181600"/>
            <a:ext cx="11430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350" b="1">
                <a:solidFill>
                  <a:srgbClr val="F1E3C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F1E3C4"/>
                </a:solidFill>
                <a:latin typeface="Microsoft YaHei"/>
                <a:ea typeface="Microsoft YaHei"/>
                <a:cs typeface="Microsoft YaHei"/>
              </a:rPr>
              <a:t>下一步</a:t>
            </a: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B605A5D9-DA9C-4694-843C-9BA2F9215D22}"/>
              </a:ext>
            </a:extLst>
          </p:cNvPr>
          <p:cNvSpPr>
            <a:spLocks noGrp="1"/>
          </p:cNvSpPr>
          <p:nvPr/>
        </p:nvSpPr>
        <p:spPr>
          <a:xfrm>
            <a:off x="685800" y="5543550"/>
            <a:ext cx="762000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20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真实用户测试  +  公网演示  +  家庭试点</a:t>
            </a: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A0D13243-78C8-43C6-A3DB-7BD7CC9AFAB8}"/>
              </a:ext>
            </a:extLst>
          </p:cNvPr>
          <p:cNvSpPr>
            <a:spLocks noGrp="1"/>
          </p:cNvSpPr>
          <p:nvPr/>
        </p:nvSpPr>
        <p:spPr>
          <a:xfrm>
            <a:off x="10572750" y="6210300"/>
            <a:ext cx="9525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r">
              <a:defRPr sz="1125" b="1">
                <a:solidFill>
                  <a:srgbClr val="ADC0B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ADC0B6"/>
                </a:solidFill>
                <a:latin typeface="Microsoft YaHei"/>
                <a:ea typeface="Microsoft YaHei"/>
                <a:cs typeface="Microsoft YaHei"/>
              </a:rPr>
              <a:t>12 / 12</a:t>
            </a:r>
          </a:p>
        </p:txBody>
      </p:sp>
    </p:spTree>
    <p:extLst>
      <p:ext uri="{BB962C8B-B14F-4D97-AF65-F5344CB8AC3E}">
        <p14:creationId xmlns:p14="http://schemas.microsoft.com/office/powerpoint/2010/main" val="1017570978"/>
      </p:ext>
    </p:extLst>
  </p:cSld>
  <p:clrMapOvr>
    <a:masterClrMapping/>
  </p:clrMapOvr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1250</Words>
  <Application>Microsoft Office PowerPoint</Application>
  <DocSecurity>0</DocSecurity>
  <PresentationFormat>宽屏</PresentationFormat>
  <Paragraphs>283</Paragraphs>
  <Slides>12</Slides>
  <Notes>12</Notes>
  <HiddenSlides>0</HiddenSlides>
  <MMClips>0</MMClips>
  <ScaleCrop>false</ScaleCrop>
  <HeadingPairs>
    <vt:vector size="6" baseType="variant">
      <vt:variant>
        <vt:lpstr>已用的字体</vt:lpstr>
      </vt:variant>
      <vt:variant>
        <vt:i4>3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12</vt:i4>
      </vt:variant>
    </vt:vector>
  </HeadingPairs>
  <TitlesOfParts>
    <vt:vector size="16" baseType="lpstr">
      <vt:lpstr>SimSun</vt:lpstr>
      <vt:lpstr>Microsoft YaHei</vt:lpstr>
      <vt:lpstr>Calibri</vt:lpstr>
      <vt:lpstr>ChatGPT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</dc:title>
  <dc:creator>Walnut Exporter</dc:creator>
  <cp:lastModifiedBy>文禧 陈</cp:lastModifiedBy>
  <cp:revision>1</cp:revision>
  <dcterms:created xsi:type="dcterms:W3CDTF">2026-08-08T11:41:46Z</dcterms:created>
  <dcterms:modified xsi:type="dcterms:W3CDTF">2026-08-08T12:16:59Z</dcterms:modified>
</cp:coreProperties>
</file>